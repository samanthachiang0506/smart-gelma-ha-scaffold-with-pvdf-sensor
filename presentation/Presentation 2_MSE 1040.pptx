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7" r:id="rId1"/>
  </p:sldMasterIdLst>
  <p:notesMasterIdLst>
    <p:notesMasterId r:id="rId16"/>
  </p:notesMasterIdLst>
  <p:sldIdLst>
    <p:sldId id="256" r:id="rId2"/>
    <p:sldId id="268" r:id="rId3"/>
    <p:sldId id="257" r:id="rId4"/>
    <p:sldId id="258" r:id="rId5"/>
    <p:sldId id="260" r:id="rId6"/>
    <p:sldId id="261" r:id="rId7"/>
    <p:sldId id="262" r:id="rId8"/>
    <p:sldId id="269" r:id="rId9"/>
    <p:sldId id="267" r:id="rId10"/>
    <p:sldId id="263" r:id="rId11"/>
    <p:sldId id="270" r:id="rId12"/>
    <p:sldId id="271" r:id="rId13"/>
    <p:sldId id="272"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8891"/>
    <a:srgbClr val="F2F2F4"/>
    <a:srgbClr val="B99775"/>
    <a:srgbClr val="156082"/>
    <a:srgbClr val="4486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61"/>
    <p:restoredTop sz="55389"/>
  </p:normalViewPr>
  <p:slideViewPr>
    <p:cSldViewPr snapToGrid="0">
      <p:cViewPr>
        <p:scale>
          <a:sx n="64" d="100"/>
          <a:sy n="64" d="100"/>
        </p:scale>
        <p:origin x="2840" y="144"/>
      </p:cViewPr>
      <p:guideLst/>
    </p:cSldViewPr>
  </p:slideViewPr>
  <p:notesTextViewPr>
    <p:cViewPr>
      <p:scale>
        <a:sx n="80" d="100"/>
        <a:sy n="8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ED89D6-FEDB-42FC-95D2-377579D000C0}"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497FDE68-FB82-4DE8-BDE3-E5D06E8AEF36}">
      <dgm:prSet/>
      <dgm:spPr/>
      <dgm:t>
        <a:bodyPr/>
        <a:lstStyle/>
        <a:p>
          <a:r>
            <a:rPr kumimoji="1" lang="en-US"/>
            <a:t>Background and Motivation</a:t>
          </a:r>
          <a:endParaRPr lang="en-US"/>
        </a:p>
      </dgm:t>
    </dgm:pt>
    <dgm:pt modelId="{46ABDEA4-8CC4-4339-A2BA-629F31E818E9}" type="parTrans" cxnId="{3387B935-A0B4-41B4-89AB-6940B4BE1885}">
      <dgm:prSet/>
      <dgm:spPr/>
      <dgm:t>
        <a:bodyPr/>
        <a:lstStyle/>
        <a:p>
          <a:endParaRPr lang="en-US"/>
        </a:p>
      </dgm:t>
    </dgm:pt>
    <dgm:pt modelId="{5BC5043F-829B-47D2-B938-4E0FE378D526}" type="sibTrans" cxnId="{3387B935-A0B4-41B4-89AB-6940B4BE1885}">
      <dgm:prSet/>
      <dgm:spPr/>
      <dgm:t>
        <a:bodyPr/>
        <a:lstStyle/>
        <a:p>
          <a:endParaRPr lang="en-US"/>
        </a:p>
      </dgm:t>
    </dgm:pt>
    <dgm:pt modelId="{B7806CA8-A41D-4EDA-84EB-1EDEC95A78D5}">
      <dgm:prSet/>
      <dgm:spPr/>
      <dgm:t>
        <a:bodyPr/>
        <a:lstStyle/>
        <a:p>
          <a:r>
            <a:rPr kumimoji="1" lang="en-US"/>
            <a:t>Aim</a:t>
          </a:r>
          <a:endParaRPr lang="en-US"/>
        </a:p>
      </dgm:t>
    </dgm:pt>
    <dgm:pt modelId="{454A1276-78C2-4400-9F2D-A84CF2346DE4}" type="parTrans" cxnId="{2A69062D-B2B9-4136-B935-43E110FF0197}">
      <dgm:prSet/>
      <dgm:spPr/>
      <dgm:t>
        <a:bodyPr/>
        <a:lstStyle/>
        <a:p>
          <a:endParaRPr lang="en-US"/>
        </a:p>
      </dgm:t>
    </dgm:pt>
    <dgm:pt modelId="{282BD838-4168-49A2-9429-B99B063C799B}" type="sibTrans" cxnId="{2A69062D-B2B9-4136-B935-43E110FF0197}">
      <dgm:prSet/>
      <dgm:spPr/>
      <dgm:t>
        <a:bodyPr/>
        <a:lstStyle/>
        <a:p>
          <a:endParaRPr lang="en-US"/>
        </a:p>
      </dgm:t>
    </dgm:pt>
    <dgm:pt modelId="{F672ED86-C1AC-4823-A1F7-2ADFCFB6CB24}">
      <dgm:prSet/>
      <dgm:spPr/>
      <dgm:t>
        <a:bodyPr/>
        <a:lstStyle/>
        <a:p>
          <a:r>
            <a:rPr kumimoji="1" lang="en-US"/>
            <a:t>Materials </a:t>
          </a:r>
          <a:endParaRPr lang="en-US"/>
        </a:p>
      </dgm:t>
    </dgm:pt>
    <dgm:pt modelId="{0F47590A-DACA-4C29-95E3-F3A16BF13E8B}" type="parTrans" cxnId="{A2433FC3-DCE1-463A-BC85-24EF40A88549}">
      <dgm:prSet/>
      <dgm:spPr/>
      <dgm:t>
        <a:bodyPr/>
        <a:lstStyle/>
        <a:p>
          <a:endParaRPr lang="en-US"/>
        </a:p>
      </dgm:t>
    </dgm:pt>
    <dgm:pt modelId="{99ADF442-0C88-48CC-AF03-E4D4F7680B41}" type="sibTrans" cxnId="{A2433FC3-DCE1-463A-BC85-24EF40A88549}">
      <dgm:prSet/>
      <dgm:spPr/>
      <dgm:t>
        <a:bodyPr/>
        <a:lstStyle/>
        <a:p>
          <a:endParaRPr lang="en-US"/>
        </a:p>
      </dgm:t>
    </dgm:pt>
    <dgm:pt modelId="{9D63B43B-C64B-47B5-981B-42EE473B1BC6}">
      <dgm:prSet/>
      <dgm:spPr/>
      <dgm:t>
        <a:bodyPr/>
        <a:lstStyle/>
        <a:p>
          <a:r>
            <a:rPr kumimoji="1" lang="en-US"/>
            <a:t>Methods</a:t>
          </a:r>
          <a:endParaRPr lang="en-US"/>
        </a:p>
      </dgm:t>
    </dgm:pt>
    <dgm:pt modelId="{5BF6860E-01A4-4F62-B713-2C89E94B5A95}" type="parTrans" cxnId="{AD707EAE-3F46-4F27-B472-946576179057}">
      <dgm:prSet/>
      <dgm:spPr/>
      <dgm:t>
        <a:bodyPr/>
        <a:lstStyle/>
        <a:p>
          <a:endParaRPr lang="en-US"/>
        </a:p>
      </dgm:t>
    </dgm:pt>
    <dgm:pt modelId="{ECA52647-49D4-4BD6-ADC4-F7AB7C08D357}" type="sibTrans" cxnId="{AD707EAE-3F46-4F27-B472-946576179057}">
      <dgm:prSet/>
      <dgm:spPr/>
      <dgm:t>
        <a:bodyPr/>
        <a:lstStyle/>
        <a:p>
          <a:endParaRPr lang="en-US"/>
        </a:p>
      </dgm:t>
    </dgm:pt>
    <dgm:pt modelId="{1E93F32F-C830-4960-8A59-30AD3656F109}">
      <dgm:prSet/>
      <dgm:spPr/>
      <dgm:t>
        <a:bodyPr/>
        <a:lstStyle/>
        <a:p>
          <a:r>
            <a:rPr kumimoji="1" lang="en-US"/>
            <a:t>Design </a:t>
          </a:r>
          <a:endParaRPr lang="en-US"/>
        </a:p>
      </dgm:t>
    </dgm:pt>
    <dgm:pt modelId="{77589DA6-1F40-422D-88DA-955585C5836F}" type="parTrans" cxnId="{A77F2375-111B-44B2-9417-DCB4F418F262}">
      <dgm:prSet/>
      <dgm:spPr/>
      <dgm:t>
        <a:bodyPr/>
        <a:lstStyle/>
        <a:p>
          <a:endParaRPr lang="en-US"/>
        </a:p>
      </dgm:t>
    </dgm:pt>
    <dgm:pt modelId="{AC75022F-DC18-44B2-8873-5ACBD2E0A393}" type="sibTrans" cxnId="{A77F2375-111B-44B2-9417-DCB4F418F262}">
      <dgm:prSet/>
      <dgm:spPr/>
      <dgm:t>
        <a:bodyPr/>
        <a:lstStyle/>
        <a:p>
          <a:endParaRPr lang="en-US"/>
        </a:p>
      </dgm:t>
    </dgm:pt>
    <dgm:pt modelId="{1FD1DE39-BF8F-4570-9376-371031E1A678}">
      <dgm:prSet/>
      <dgm:spPr/>
      <dgm:t>
        <a:bodyPr/>
        <a:lstStyle/>
        <a:p>
          <a:r>
            <a:rPr lang="en-US" b="0" i="0"/>
            <a:t>Health and failure risks</a:t>
          </a:r>
          <a:endParaRPr lang="en-US"/>
        </a:p>
      </dgm:t>
    </dgm:pt>
    <dgm:pt modelId="{6066C17A-F1EC-4EEA-8A40-734A8283F9E9}" type="parTrans" cxnId="{BA900991-0BAA-42D9-A9CA-6C41A95892A4}">
      <dgm:prSet/>
      <dgm:spPr/>
      <dgm:t>
        <a:bodyPr/>
        <a:lstStyle/>
        <a:p>
          <a:endParaRPr lang="en-US"/>
        </a:p>
      </dgm:t>
    </dgm:pt>
    <dgm:pt modelId="{B048238A-A857-4965-A66A-84C5EB707158}" type="sibTrans" cxnId="{BA900991-0BAA-42D9-A9CA-6C41A95892A4}">
      <dgm:prSet/>
      <dgm:spPr/>
      <dgm:t>
        <a:bodyPr/>
        <a:lstStyle/>
        <a:p>
          <a:endParaRPr lang="en-US"/>
        </a:p>
      </dgm:t>
    </dgm:pt>
    <dgm:pt modelId="{D2530748-78E2-4210-AA43-50D54A91B8DC}">
      <dgm:prSet/>
      <dgm:spPr/>
      <dgm:t>
        <a:bodyPr/>
        <a:lstStyle/>
        <a:p>
          <a:r>
            <a:rPr lang="en-US"/>
            <a:t>R</a:t>
          </a:r>
          <a:r>
            <a:rPr lang="en-US" b="0" i="0"/>
            <a:t>egulatory requirements</a:t>
          </a:r>
          <a:br>
            <a:rPr lang="en-US"/>
          </a:br>
          <a:endParaRPr lang="en-US"/>
        </a:p>
      </dgm:t>
    </dgm:pt>
    <dgm:pt modelId="{640F5B60-A32A-4E19-AE44-1A1E56F87DD4}" type="parTrans" cxnId="{0F611983-31C9-405B-850F-0945E105C088}">
      <dgm:prSet/>
      <dgm:spPr/>
      <dgm:t>
        <a:bodyPr/>
        <a:lstStyle/>
        <a:p>
          <a:endParaRPr lang="en-US"/>
        </a:p>
      </dgm:t>
    </dgm:pt>
    <dgm:pt modelId="{DA595C35-8EE1-41C1-83C2-F49BC592A7D5}" type="sibTrans" cxnId="{0F611983-31C9-405B-850F-0945E105C088}">
      <dgm:prSet/>
      <dgm:spPr/>
      <dgm:t>
        <a:bodyPr/>
        <a:lstStyle/>
        <a:p>
          <a:endParaRPr lang="en-US"/>
        </a:p>
      </dgm:t>
    </dgm:pt>
    <dgm:pt modelId="{1E1F3D2C-F1A8-40C6-8C6D-4B6F89E12DD3}" type="pres">
      <dgm:prSet presAssocID="{E1ED89D6-FEDB-42FC-95D2-377579D000C0}" presName="root" presStyleCnt="0">
        <dgm:presLayoutVars>
          <dgm:dir/>
          <dgm:resizeHandles val="exact"/>
        </dgm:presLayoutVars>
      </dgm:prSet>
      <dgm:spPr/>
    </dgm:pt>
    <dgm:pt modelId="{6645BF2D-0B0B-4594-8025-93FFAB45BCD5}" type="pres">
      <dgm:prSet presAssocID="{497FDE68-FB82-4DE8-BDE3-E5D06E8AEF36}" presName="compNode" presStyleCnt="0"/>
      <dgm:spPr/>
    </dgm:pt>
    <dgm:pt modelId="{82D8BE36-F032-48B2-BCD5-C68679452DDA}" type="pres">
      <dgm:prSet presAssocID="{497FDE68-FB82-4DE8-BDE3-E5D06E8AEF36}" presName="bgRect" presStyleLbl="bgShp" presStyleIdx="0" presStyleCnt="7"/>
      <dgm:spPr/>
    </dgm:pt>
    <dgm:pt modelId="{B48B0985-6D07-42CA-8A17-0A9E133F56D0}" type="pres">
      <dgm:prSet presAssocID="{497FDE68-FB82-4DE8-BDE3-E5D06E8AEF36}"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94F2BA6-8627-4FB9-8BD2-2792F0B416B9}" type="pres">
      <dgm:prSet presAssocID="{497FDE68-FB82-4DE8-BDE3-E5D06E8AEF36}" presName="spaceRect" presStyleCnt="0"/>
      <dgm:spPr/>
    </dgm:pt>
    <dgm:pt modelId="{A81A6848-267A-4281-8040-FBD6AD39B5E6}" type="pres">
      <dgm:prSet presAssocID="{497FDE68-FB82-4DE8-BDE3-E5D06E8AEF36}" presName="parTx" presStyleLbl="revTx" presStyleIdx="0" presStyleCnt="7">
        <dgm:presLayoutVars>
          <dgm:chMax val="0"/>
          <dgm:chPref val="0"/>
        </dgm:presLayoutVars>
      </dgm:prSet>
      <dgm:spPr/>
    </dgm:pt>
    <dgm:pt modelId="{F82F9466-B8FF-42B8-AA58-DB5064D4C844}" type="pres">
      <dgm:prSet presAssocID="{5BC5043F-829B-47D2-B938-4E0FE378D526}" presName="sibTrans" presStyleCnt="0"/>
      <dgm:spPr/>
    </dgm:pt>
    <dgm:pt modelId="{75749B0A-A81F-48DC-B6E3-CD47064DE5AF}" type="pres">
      <dgm:prSet presAssocID="{B7806CA8-A41D-4EDA-84EB-1EDEC95A78D5}" presName="compNode" presStyleCnt="0"/>
      <dgm:spPr/>
    </dgm:pt>
    <dgm:pt modelId="{F4C65621-43ED-41A2-80FF-206B279B5B2D}" type="pres">
      <dgm:prSet presAssocID="{B7806CA8-A41D-4EDA-84EB-1EDEC95A78D5}" presName="bgRect" presStyleLbl="bgShp" presStyleIdx="1" presStyleCnt="7"/>
      <dgm:spPr/>
    </dgm:pt>
    <dgm:pt modelId="{513700C9-2279-40B8-A22D-34604651B344}" type="pres">
      <dgm:prSet presAssocID="{B7806CA8-A41D-4EDA-84EB-1EDEC95A78D5}"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目標"/>
        </a:ext>
      </dgm:extLst>
    </dgm:pt>
    <dgm:pt modelId="{43CFC1E0-C859-4FFB-B11D-BF2651B1A92C}" type="pres">
      <dgm:prSet presAssocID="{B7806CA8-A41D-4EDA-84EB-1EDEC95A78D5}" presName="spaceRect" presStyleCnt="0"/>
      <dgm:spPr/>
    </dgm:pt>
    <dgm:pt modelId="{E53D6F2F-6861-4B66-829D-25AAB5A58D16}" type="pres">
      <dgm:prSet presAssocID="{B7806CA8-A41D-4EDA-84EB-1EDEC95A78D5}" presName="parTx" presStyleLbl="revTx" presStyleIdx="1" presStyleCnt="7">
        <dgm:presLayoutVars>
          <dgm:chMax val="0"/>
          <dgm:chPref val="0"/>
        </dgm:presLayoutVars>
      </dgm:prSet>
      <dgm:spPr/>
    </dgm:pt>
    <dgm:pt modelId="{4500C2B8-3B29-4685-AD50-97E4D19033B5}" type="pres">
      <dgm:prSet presAssocID="{282BD838-4168-49A2-9429-B99B063C799B}" presName="sibTrans" presStyleCnt="0"/>
      <dgm:spPr/>
    </dgm:pt>
    <dgm:pt modelId="{FDA12B9E-CED7-4A77-B364-7242855EEDB1}" type="pres">
      <dgm:prSet presAssocID="{F672ED86-C1AC-4823-A1F7-2ADFCFB6CB24}" presName="compNode" presStyleCnt="0"/>
      <dgm:spPr/>
    </dgm:pt>
    <dgm:pt modelId="{D1C11046-69B3-46E9-9503-873252359862}" type="pres">
      <dgm:prSet presAssocID="{F672ED86-C1AC-4823-A1F7-2ADFCFB6CB24}" presName="bgRect" presStyleLbl="bgShp" presStyleIdx="2" presStyleCnt="7"/>
      <dgm:spPr/>
    </dgm:pt>
    <dgm:pt modelId="{A070590A-02E9-4193-A640-CE3A67005515}" type="pres">
      <dgm:prSet presAssocID="{F672ED86-C1AC-4823-A1F7-2ADFCFB6CB24}"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原料"/>
        </a:ext>
      </dgm:extLst>
    </dgm:pt>
    <dgm:pt modelId="{CFBFE83C-CC50-4D90-8B85-68041F63B082}" type="pres">
      <dgm:prSet presAssocID="{F672ED86-C1AC-4823-A1F7-2ADFCFB6CB24}" presName="spaceRect" presStyleCnt="0"/>
      <dgm:spPr/>
    </dgm:pt>
    <dgm:pt modelId="{BD1AB1A7-E371-4A2C-8319-7B7D56498DB9}" type="pres">
      <dgm:prSet presAssocID="{F672ED86-C1AC-4823-A1F7-2ADFCFB6CB24}" presName="parTx" presStyleLbl="revTx" presStyleIdx="2" presStyleCnt="7">
        <dgm:presLayoutVars>
          <dgm:chMax val="0"/>
          <dgm:chPref val="0"/>
        </dgm:presLayoutVars>
      </dgm:prSet>
      <dgm:spPr/>
    </dgm:pt>
    <dgm:pt modelId="{97EC426B-4C08-41D4-8369-FCCF4836BC87}" type="pres">
      <dgm:prSet presAssocID="{99ADF442-0C88-48CC-AF03-E4D4F7680B41}" presName="sibTrans" presStyleCnt="0"/>
      <dgm:spPr/>
    </dgm:pt>
    <dgm:pt modelId="{7BB21D91-811F-4C99-940E-100F3C44EE9F}" type="pres">
      <dgm:prSet presAssocID="{9D63B43B-C64B-47B5-981B-42EE473B1BC6}" presName="compNode" presStyleCnt="0"/>
      <dgm:spPr/>
    </dgm:pt>
    <dgm:pt modelId="{F7DD3A86-43A1-4411-A033-F62486305C00}" type="pres">
      <dgm:prSet presAssocID="{9D63B43B-C64B-47B5-981B-42EE473B1BC6}" presName="bgRect" presStyleLbl="bgShp" presStyleIdx="3" presStyleCnt="7"/>
      <dgm:spPr/>
    </dgm:pt>
    <dgm:pt modelId="{A16F8197-8175-4E71-9352-6F9883D07416}" type="pres">
      <dgm:prSet presAssocID="{9D63B43B-C64B-47B5-981B-42EE473B1BC6}"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顯微鏡"/>
        </a:ext>
      </dgm:extLst>
    </dgm:pt>
    <dgm:pt modelId="{CBCCF42D-27EB-4AD2-9A00-123C14151D16}" type="pres">
      <dgm:prSet presAssocID="{9D63B43B-C64B-47B5-981B-42EE473B1BC6}" presName="spaceRect" presStyleCnt="0"/>
      <dgm:spPr/>
    </dgm:pt>
    <dgm:pt modelId="{91661F88-3982-4E9D-A4D1-FC4E1BC2EDB3}" type="pres">
      <dgm:prSet presAssocID="{9D63B43B-C64B-47B5-981B-42EE473B1BC6}" presName="parTx" presStyleLbl="revTx" presStyleIdx="3" presStyleCnt="7">
        <dgm:presLayoutVars>
          <dgm:chMax val="0"/>
          <dgm:chPref val="0"/>
        </dgm:presLayoutVars>
      </dgm:prSet>
      <dgm:spPr/>
    </dgm:pt>
    <dgm:pt modelId="{37BCAE12-719C-4A58-AEE6-BCBB2D8BE788}" type="pres">
      <dgm:prSet presAssocID="{ECA52647-49D4-4BD6-ADC4-F7AB7C08D357}" presName="sibTrans" presStyleCnt="0"/>
      <dgm:spPr/>
    </dgm:pt>
    <dgm:pt modelId="{152E4E09-1B11-4FAC-9562-E17A81617A1D}" type="pres">
      <dgm:prSet presAssocID="{1E93F32F-C830-4960-8A59-30AD3656F109}" presName="compNode" presStyleCnt="0"/>
      <dgm:spPr/>
    </dgm:pt>
    <dgm:pt modelId="{B21523AC-65A9-49FF-A957-717E3E5EBCE4}" type="pres">
      <dgm:prSet presAssocID="{1E93F32F-C830-4960-8A59-30AD3656F109}" presName="bgRect" presStyleLbl="bgShp" presStyleIdx="4" presStyleCnt="7"/>
      <dgm:spPr/>
    </dgm:pt>
    <dgm:pt modelId="{0279CA11-6CCA-450D-8A01-03A58A37DE4E}" type="pres">
      <dgm:prSet presAssocID="{1E93F32F-C830-4960-8A59-30AD3656F109}"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尺規"/>
        </a:ext>
      </dgm:extLst>
    </dgm:pt>
    <dgm:pt modelId="{5AD6CFA2-0C5C-403F-9150-07BABBE4A4C4}" type="pres">
      <dgm:prSet presAssocID="{1E93F32F-C830-4960-8A59-30AD3656F109}" presName="spaceRect" presStyleCnt="0"/>
      <dgm:spPr/>
    </dgm:pt>
    <dgm:pt modelId="{A84F51EC-9438-48B8-A068-F8407D4736AC}" type="pres">
      <dgm:prSet presAssocID="{1E93F32F-C830-4960-8A59-30AD3656F109}" presName="parTx" presStyleLbl="revTx" presStyleIdx="4" presStyleCnt="7">
        <dgm:presLayoutVars>
          <dgm:chMax val="0"/>
          <dgm:chPref val="0"/>
        </dgm:presLayoutVars>
      </dgm:prSet>
      <dgm:spPr/>
    </dgm:pt>
    <dgm:pt modelId="{E8055882-6452-4E56-8B75-826ECE07077A}" type="pres">
      <dgm:prSet presAssocID="{AC75022F-DC18-44B2-8873-5ACBD2E0A393}" presName="sibTrans" presStyleCnt="0"/>
      <dgm:spPr/>
    </dgm:pt>
    <dgm:pt modelId="{FD90120C-A373-40B3-98FC-1CA9F2AFC757}" type="pres">
      <dgm:prSet presAssocID="{1FD1DE39-BF8F-4570-9376-371031E1A678}" presName="compNode" presStyleCnt="0"/>
      <dgm:spPr/>
    </dgm:pt>
    <dgm:pt modelId="{5B05088B-D158-48AD-AC06-A57BCADD3FC9}" type="pres">
      <dgm:prSet presAssocID="{1FD1DE39-BF8F-4570-9376-371031E1A678}" presName="bgRect" presStyleLbl="bgShp" presStyleIdx="5" presStyleCnt="7"/>
      <dgm:spPr/>
    </dgm:pt>
    <dgm:pt modelId="{F6F28EB9-6711-44E2-A363-7D0BCE3C876D}" type="pres">
      <dgm:prSet presAssocID="{1FD1DE39-BF8F-4570-9376-371031E1A67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醫學"/>
        </a:ext>
      </dgm:extLst>
    </dgm:pt>
    <dgm:pt modelId="{A1F7B9EB-695C-40D8-9224-58B5951C62BF}" type="pres">
      <dgm:prSet presAssocID="{1FD1DE39-BF8F-4570-9376-371031E1A678}" presName="spaceRect" presStyleCnt="0"/>
      <dgm:spPr/>
    </dgm:pt>
    <dgm:pt modelId="{0FD2055E-6A8D-4B9C-9D87-E31107D9D6E2}" type="pres">
      <dgm:prSet presAssocID="{1FD1DE39-BF8F-4570-9376-371031E1A678}" presName="parTx" presStyleLbl="revTx" presStyleIdx="5" presStyleCnt="7">
        <dgm:presLayoutVars>
          <dgm:chMax val="0"/>
          <dgm:chPref val="0"/>
        </dgm:presLayoutVars>
      </dgm:prSet>
      <dgm:spPr/>
    </dgm:pt>
    <dgm:pt modelId="{DB73B0BE-D606-47E4-A5D7-411561DBD2CF}" type="pres">
      <dgm:prSet presAssocID="{B048238A-A857-4965-A66A-84C5EB707158}" presName="sibTrans" presStyleCnt="0"/>
      <dgm:spPr/>
    </dgm:pt>
    <dgm:pt modelId="{699C8411-7DCE-4E56-987C-97CDFD0BAFD3}" type="pres">
      <dgm:prSet presAssocID="{D2530748-78E2-4210-AA43-50D54A91B8DC}" presName="compNode" presStyleCnt="0"/>
      <dgm:spPr/>
    </dgm:pt>
    <dgm:pt modelId="{E0812BA4-C2BB-4F9F-A038-E48CB8EDBDE0}" type="pres">
      <dgm:prSet presAssocID="{D2530748-78E2-4210-AA43-50D54A91B8DC}" presName="bgRect" presStyleLbl="bgShp" presStyleIdx="6" presStyleCnt="7"/>
      <dgm:spPr/>
    </dgm:pt>
    <dgm:pt modelId="{E4D55360-3B14-4476-B729-3AA16B203731}" type="pres">
      <dgm:prSet presAssocID="{D2530748-78E2-4210-AA43-50D54A91B8D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核取記號"/>
        </a:ext>
      </dgm:extLst>
    </dgm:pt>
    <dgm:pt modelId="{24030945-D8B5-4B00-AB08-CD0DA0C84E36}" type="pres">
      <dgm:prSet presAssocID="{D2530748-78E2-4210-AA43-50D54A91B8DC}" presName="spaceRect" presStyleCnt="0"/>
      <dgm:spPr/>
    </dgm:pt>
    <dgm:pt modelId="{4D5F18DE-CF94-46CB-897E-0B715C2B194B}" type="pres">
      <dgm:prSet presAssocID="{D2530748-78E2-4210-AA43-50D54A91B8DC}" presName="parTx" presStyleLbl="revTx" presStyleIdx="6" presStyleCnt="7">
        <dgm:presLayoutVars>
          <dgm:chMax val="0"/>
          <dgm:chPref val="0"/>
        </dgm:presLayoutVars>
      </dgm:prSet>
      <dgm:spPr/>
    </dgm:pt>
  </dgm:ptLst>
  <dgm:cxnLst>
    <dgm:cxn modelId="{2A69062D-B2B9-4136-B935-43E110FF0197}" srcId="{E1ED89D6-FEDB-42FC-95D2-377579D000C0}" destId="{B7806CA8-A41D-4EDA-84EB-1EDEC95A78D5}" srcOrd="1" destOrd="0" parTransId="{454A1276-78C2-4400-9F2D-A84CF2346DE4}" sibTransId="{282BD838-4168-49A2-9429-B99B063C799B}"/>
    <dgm:cxn modelId="{3387B935-A0B4-41B4-89AB-6940B4BE1885}" srcId="{E1ED89D6-FEDB-42FC-95D2-377579D000C0}" destId="{497FDE68-FB82-4DE8-BDE3-E5D06E8AEF36}" srcOrd="0" destOrd="0" parTransId="{46ABDEA4-8CC4-4339-A2BA-629F31E818E9}" sibTransId="{5BC5043F-829B-47D2-B938-4E0FE378D526}"/>
    <dgm:cxn modelId="{2537354A-CBD5-4E2D-9E1C-BE162A0C7B00}" type="presOf" srcId="{1E93F32F-C830-4960-8A59-30AD3656F109}" destId="{A84F51EC-9438-48B8-A068-F8407D4736AC}" srcOrd="0" destOrd="0" presId="urn:microsoft.com/office/officeart/2018/2/layout/IconVerticalSolidList"/>
    <dgm:cxn modelId="{A39E9B5A-D3FC-4CB2-B9F0-583B0D28F607}" type="presOf" srcId="{E1ED89D6-FEDB-42FC-95D2-377579D000C0}" destId="{1E1F3D2C-F1A8-40C6-8C6D-4B6F89E12DD3}" srcOrd="0" destOrd="0" presId="urn:microsoft.com/office/officeart/2018/2/layout/IconVerticalSolidList"/>
    <dgm:cxn modelId="{15815F70-3F61-48B2-9412-D57648CDFBFF}" type="presOf" srcId="{1FD1DE39-BF8F-4570-9376-371031E1A678}" destId="{0FD2055E-6A8D-4B9C-9D87-E31107D9D6E2}" srcOrd="0" destOrd="0" presId="urn:microsoft.com/office/officeart/2018/2/layout/IconVerticalSolidList"/>
    <dgm:cxn modelId="{A77F2375-111B-44B2-9417-DCB4F418F262}" srcId="{E1ED89D6-FEDB-42FC-95D2-377579D000C0}" destId="{1E93F32F-C830-4960-8A59-30AD3656F109}" srcOrd="4" destOrd="0" parTransId="{77589DA6-1F40-422D-88DA-955585C5836F}" sibTransId="{AC75022F-DC18-44B2-8873-5ACBD2E0A393}"/>
    <dgm:cxn modelId="{EF27A87A-E9C5-4055-B91C-5A03FD2816F1}" type="presOf" srcId="{9D63B43B-C64B-47B5-981B-42EE473B1BC6}" destId="{91661F88-3982-4E9D-A4D1-FC4E1BC2EDB3}" srcOrd="0" destOrd="0" presId="urn:microsoft.com/office/officeart/2018/2/layout/IconVerticalSolidList"/>
    <dgm:cxn modelId="{0F611983-31C9-405B-850F-0945E105C088}" srcId="{E1ED89D6-FEDB-42FC-95D2-377579D000C0}" destId="{D2530748-78E2-4210-AA43-50D54A91B8DC}" srcOrd="6" destOrd="0" parTransId="{640F5B60-A32A-4E19-AE44-1A1E56F87DD4}" sibTransId="{DA595C35-8EE1-41C1-83C2-F49BC592A7D5}"/>
    <dgm:cxn modelId="{BA900991-0BAA-42D9-A9CA-6C41A95892A4}" srcId="{E1ED89D6-FEDB-42FC-95D2-377579D000C0}" destId="{1FD1DE39-BF8F-4570-9376-371031E1A678}" srcOrd="5" destOrd="0" parTransId="{6066C17A-F1EC-4EEA-8A40-734A8283F9E9}" sibTransId="{B048238A-A857-4965-A66A-84C5EB707158}"/>
    <dgm:cxn modelId="{98443BA7-0F5E-4A4C-BA3F-6AF51C08B69C}" type="presOf" srcId="{D2530748-78E2-4210-AA43-50D54A91B8DC}" destId="{4D5F18DE-CF94-46CB-897E-0B715C2B194B}" srcOrd="0" destOrd="0" presId="urn:microsoft.com/office/officeart/2018/2/layout/IconVerticalSolidList"/>
    <dgm:cxn modelId="{AD707EAE-3F46-4F27-B472-946576179057}" srcId="{E1ED89D6-FEDB-42FC-95D2-377579D000C0}" destId="{9D63B43B-C64B-47B5-981B-42EE473B1BC6}" srcOrd="3" destOrd="0" parTransId="{5BF6860E-01A4-4F62-B713-2C89E94B5A95}" sibTransId="{ECA52647-49D4-4BD6-ADC4-F7AB7C08D357}"/>
    <dgm:cxn modelId="{A2433FC3-DCE1-463A-BC85-24EF40A88549}" srcId="{E1ED89D6-FEDB-42FC-95D2-377579D000C0}" destId="{F672ED86-C1AC-4823-A1F7-2ADFCFB6CB24}" srcOrd="2" destOrd="0" parTransId="{0F47590A-DACA-4C29-95E3-F3A16BF13E8B}" sibTransId="{99ADF442-0C88-48CC-AF03-E4D4F7680B41}"/>
    <dgm:cxn modelId="{051E18CC-26BA-4AB8-BCC0-0EA50F6C2711}" type="presOf" srcId="{F672ED86-C1AC-4823-A1F7-2ADFCFB6CB24}" destId="{BD1AB1A7-E371-4A2C-8319-7B7D56498DB9}" srcOrd="0" destOrd="0" presId="urn:microsoft.com/office/officeart/2018/2/layout/IconVerticalSolidList"/>
    <dgm:cxn modelId="{53E7C5DB-B0A3-4F51-97D8-D9BAF2F2FC8A}" type="presOf" srcId="{B7806CA8-A41D-4EDA-84EB-1EDEC95A78D5}" destId="{E53D6F2F-6861-4B66-829D-25AAB5A58D16}" srcOrd="0" destOrd="0" presId="urn:microsoft.com/office/officeart/2018/2/layout/IconVerticalSolidList"/>
    <dgm:cxn modelId="{34C4E2F9-E4D4-4030-8CC3-0224B3449ABA}" type="presOf" srcId="{497FDE68-FB82-4DE8-BDE3-E5D06E8AEF36}" destId="{A81A6848-267A-4281-8040-FBD6AD39B5E6}" srcOrd="0" destOrd="0" presId="urn:microsoft.com/office/officeart/2018/2/layout/IconVerticalSolidList"/>
    <dgm:cxn modelId="{4D035F9E-EB64-4B4E-92FD-31DA276E4E86}" type="presParOf" srcId="{1E1F3D2C-F1A8-40C6-8C6D-4B6F89E12DD3}" destId="{6645BF2D-0B0B-4594-8025-93FFAB45BCD5}" srcOrd="0" destOrd="0" presId="urn:microsoft.com/office/officeart/2018/2/layout/IconVerticalSolidList"/>
    <dgm:cxn modelId="{591BA241-D71F-46F4-8DCB-9B2C5AC43A33}" type="presParOf" srcId="{6645BF2D-0B0B-4594-8025-93FFAB45BCD5}" destId="{82D8BE36-F032-48B2-BCD5-C68679452DDA}" srcOrd="0" destOrd="0" presId="urn:microsoft.com/office/officeart/2018/2/layout/IconVerticalSolidList"/>
    <dgm:cxn modelId="{BF240C55-7EC7-4620-929C-E66422E04393}" type="presParOf" srcId="{6645BF2D-0B0B-4594-8025-93FFAB45BCD5}" destId="{B48B0985-6D07-42CA-8A17-0A9E133F56D0}" srcOrd="1" destOrd="0" presId="urn:microsoft.com/office/officeart/2018/2/layout/IconVerticalSolidList"/>
    <dgm:cxn modelId="{B7901A7B-D125-4E4A-8344-7A342F45BACF}" type="presParOf" srcId="{6645BF2D-0B0B-4594-8025-93FFAB45BCD5}" destId="{294F2BA6-8627-4FB9-8BD2-2792F0B416B9}" srcOrd="2" destOrd="0" presId="urn:microsoft.com/office/officeart/2018/2/layout/IconVerticalSolidList"/>
    <dgm:cxn modelId="{40A8494A-EE8E-4E8E-9533-F8C8A134A0DB}" type="presParOf" srcId="{6645BF2D-0B0B-4594-8025-93FFAB45BCD5}" destId="{A81A6848-267A-4281-8040-FBD6AD39B5E6}" srcOrd="3" destOrd="0" presId="urn:microsoft.com/office/officeart/2018/2/layout/IconVerticalSolidList"/>
    <dgm:cxn modelId="{54D8722C-2CB1-435E-83A9-A7B93A9E6667}" type="presParOf" srcId="{1E1F3D2C-F1A8-40C6-8C6D-4B6F89E12DD3}" destId="{F82F9466-B8FF-42B8-AA58-DB5064D4C844}" srcOrd="1" destOrd="0" presId="urn:microsoft.com/office/officeart/2018/2/layout/IconVerticalSolidList"/>
    <dgm:cxn modelId="{81096DB7-4EEE-40BD-A82D-B1F63D1BEE83}" type="presParOf" srcId="{1E1F3D2C-F1A8-40C6-8C6D-4B6F89E12DD3}" destId="{75749B0A-A81F-48DC-B6E3-CD47064DE5AF}" srcOrd="2" destOrd="0" presId="urn:microsoft.com/office/officeart/2018/2/layout/IconVerticalSolidList"/>
    <dgm:cxn modelId="{C7476056-0D66-4EEF-9337-1774AAC851A9}" type="presParOf" srcId="{75749B0A-A81F-48DC-B6E3-CD47064DE5AF}" destId="{F4C65621-43ED-41A2-80FF-206B279B5B2D}" srcOrd="0" destOrd="0" presId="urn:microsoft.com/office/officeart/2018/2/layout/IconVerticalSolidList"/>
    <dgm:cxn modelId="{1E794630-60BC-49A8-B77B-4209BDDC6DFF}" type="presParOf" srcId="{75749B0A-A81F-48DC-B6E3-CD47064DE5AF}" destId="{513700C9-2279-40B8-A22D-34604651B344}" srcOrd="1" destOrd="0" presId="urn:microsoft.com/office/officeart/2018/2/layout/IconVerticalSolidList"/>
    <dgm:cxn modelId="{BE58474D-64D4-47BB-A9A2-6F5D0665DD2D}" type="presParOf" srcId="{75749B0A-A81F-48DC-B6E3-CD47064DE5AF}" destId="{43CFC1E0-C859-4FFB-B11D-BF2651B1A92C}" srcOrd="2" destOrd="0" presId="urn:microsoft.com/office/officeart/2018/2/layout/IconVerticalSolidList"/>
    <dgm:cxn modelId="{08C9C47D-2C49-434A-964E-A5A820082F97}" type="presParOf" srcId="{75749B0A-A81F-48DC-B6E3-CD47064DE5AF}" destId="{E53D6F2F-6861-4B66-829D-25AAB5A58D16}" srcOrd="3" destOrd="0" presId="urn:microsoft.com/office/officeart/2018/2/layout/IconVerticalSolidList"/>
    <dgm:cxn modelId="{2043A3D1-23B9-442C-BFE7-CF4A6C35B8FD}" type="presParOf" srcId="{1E1F3D2C-F1A8-40C6-8C6D-4B6F89E12DD3}" destId="{4500C2B8-3B29-4685-AD50-97E4D19033B5}" srcOrd="3" destOrd="0" presId="urn:microsoft.com/office/officeart/2018/2/layout/IconVerticalSolidList"/>
    <dgm:cxn modelId="{D558030A-B96C-4715-9BEC-C7F399575771}" type="presParOf" srcId="{1E1F3D2C-F1A8-40C6-8C6D-4B6F89E12DD3}" destId="{FDA12B9E-CED7-4A77-B364-7242855EEDB1}" srcOrd="4" destOrd="0" presId="urn:microsoft.com/office/officeart/2018/2/layout/IconVerticalSolidList"/>
    <dgm:cxn modelId="{189AE5EE-D744-476F-90E7-1DDD4D3D1086}" type="presParOf" srcId="{FDA12B9E-CED7-4A77-B364-7242855EEDB1}" destId="{D1C11046-69B3-46E9-9503-873252359862}" srcOrd="0" destOrd="0" presId="urn:microsoft.com/office/officeart/2018/2/layout/IconVerticalSolidList"/>
    <dgm:cxn modelId="{76FD3A81-8369-4189-9AA5-B485A091BFB5}" type="presParOf" srcId="{FDA12B9E-CED7-4A77-B364-7242855EEDB1}" destId="{A070590A-02E9-4193-A640-CE3A67005515}" srcOrd="1" destOrd="0" presId="urn:microsoft.com/office/officeart/2018/2/layout/IconVerticalSolidList"/>
    <dgm:cxn modelId="{05752CEA-4A3A-4D89-A347-C93937D5E9A4}" type="presParOf" srcId="{FDA12B9E-CED7-4A77-B364-7242855EEDB1}" destId="{CFBFE83C-CC50-4D90-8B85-68041F63B082}" srcOrd="2" destOrd="0" presId="urn:microsoft.com/office/officeart/2018/2/layout/IconVerticalSolidList"/>
    <dgm:cxn modelId="{BA36284C-B2B2-47DE-A015-4D94A2645668}" type="presParOf" srcId="{FDA12B9E-CED7-4A77-B364-7242855EEDB1}" destId="{BD1AB1A7-E371-4A2C-8319-7B7D56498DB9}" srcOrd="3" destOrd="0" presId="urn:microsoft.com/office/officeart/2018/2/layout/IconVerticalSolidList"/>
    <dgm:cxn modelId="{585D8E12-88A8-4D77-B032-7BA7297A0B0B}" type="presParOf" srcId="{1E1F3D2C-F1A8-40C6-8C6D-4B6F89E12DD3}" destId="{97EC426B-4C08-41D4-8369-FCCF4836BC87}" srcOrd="5" destOrd="0" presId="urn:microsoft.com/office/officeart/2018/2/layout/IconVerticalSolidList"/>
    <dgm:cxn modelId="{00E0DCAE-A028-4CB2-B83A-60B65DD86B95}" type="presParOf" srcId="{1E1F3D2C-F1A8-40C6-8C6D-4B6F89E12DD3}" destId="{7BB21D91-811F-4C99-940E-100F3C44EE9F}" srcOrd="6" destOrd="0" presId="urn:microsoft.com/office/officeart/2018/2/layout/IconVerticalSolidList"/>
    <dgm:cxn modelId="{BE419BBF-656A-4D9F-9495-D2FDF644394D}" type="presParOf" srcId="{7BB21D91-811F-4C99-940E-100F3C44EE9F}" destId="{F7DD3A86-43A1-4411-A033-F62486305C00}" srcOrd="0" destOrd="0" presId="urn:microsoft.com/office/officeart/2018/2/layout/IconVerticalSolidList"/>
    <dgm:cxn modelId="{EF13F22D-7E1A-4FEF-8597-678B9C533F7A}" type="presParOf" srcId="{7BB21D91-811F-4C99-940E-100F3C44EE9F}" destId="{A16F8197-8175-4E71-9352-6F9883D07416}" srcOrd="1" destOrd="0" presId="urn:microsoft.com/office/officeart/2018/2/layout/IconVerticalSolidList"/>
    <dgm:cxn modelId="{5F86ABE3-3B59-42D8-B4BB-1D3F005728B2}" type="presParOf" srcId="{7BB21D91-811F-4C99-940E-100F3C44EE9F}" destId="{CBCCF42D-27EB-4AD2-9A00-123C14151D16}" srcOrd="2" destOrd="0" presId="urn:microsoft.com/office/officeart/2018/2/layout/IconVerticalSolidList"/>
    <dgm:cxn modelId="{10C3982B-E335-487E-B359-C5DC56A37556}" type="presParOf" srcId="{7BB21D91-811F-4C99-940E-100F3C44EE9F}" destId="{91661F88-3982-4E9D-A4D1-FC4E1BC2EDB3}" srcOrd="3" destOrd="0" presId="urn:microsoft.com/office/officeart/2018/2/layout/IconVerticalSolidList"/>
    <dgm:cxn modelId="{AA7D58DD-3D9A-446B-B8D3-ED03C3132F0B}" type="presParOf" srcId="{1E1F3D2C-F1A8-40C6-8C6D-4B6F89E12DD3}" destId="{37BCAE12-719C-4A58-AEE6-BCBB2D8BE788}" srcOrd="7" destOrd="0" presId="urn:microsoft.com/office/officeart/2018/2/layout/IconVerticalSolidList"/>
    <dgm:cxn modelId="{14FA8DE6-09B3-4070-ADF9-C33BE5930DA1}" type="presParOf" srcId="{1E1F3D2C-F1A8-40C6-8C6D-4B6F89E12DD3}" destId="{152E4E09-1B11-4FAC-9562-E17A81617A1D}" srcOrd="8" destOrd="0" presId="urn:microsoft.com/office/officeart/2018/2/layout/IconVerticalSolidList"/>
    <dgm:cxn modelId="{CC00C0AE-0D0D-4E33-B820-5E8F29AEAC63}" type="presParOf" srcId="{152E4E09-1B11-4FAC-9562-E17A81617A1D}" destId="{B21523AC-65A9-49FF-A957-717E3E5EBCE4}" srcOrd="0" destOrd="0" presId="urn:microsoft.com/office/officeart/2018/2/layout/IconVerticalSolidList"/>
    <dgm:cxn modelId="{8F1D6B52-58F7-4E8D-B16D-93D56C6E83AE}" type="presParOf" srcId="{152E4E09-1B11-4FAC-9562-E17A81617A1D}" destId="{0279CA11-6CCA-450D-8A01-03A58A37DE4E}" srcOrd="1" destOrd="0" presId="urn:microsoft.com/office/officeart/2018/2/layout/IconVerticalSolidList"/>
    <dgm:cxn modelId="{41893AC5-F495-432B-89E5-143CC188F46B}" type="presParOf" srcId="{152E4E09-1B11-4FAC-9562-E17A81617A1D}" destId="{5AD6CFA2-0C5C-403F-9150-07BABBE4A4C4}" srcOrd="2" destOrd="0" presId="urn:microsoft.com/office/officeart/2018/2/layout/IconVerticalSolidList"/>
    <dgm:cxn modelId="{0ACCC0AE-8382-4BB3-8060-839C09C7795B}" type="presParOf" srcId="{152E4E09-1B11-4FAC-9562-E17A81617A1D}" destId="{A84F51EC-9438-48B8-A068-F8407D4736AC}" srcOrd="3" destOrd="0" presId="urn:microsoft.com/office/officeart/2018/2/layout/IconVerticalSolidList"/>
    <dgm:cxn modelId="{131698F7-1AE9-4EEE-B95D-C9E81CC40F6F}" type="presParOf" srcId="{1E1F3D2C-F1A8-40C6-8C6D-4B6F89E12DD3}" destId="{E8055882-6452-4E56-8B75-826ECE07077A}" srcOrd="9" destOrd="0" presId="urn:microsoft.com/office/officeart/2018/2/layout/IconVerticalSolidList"/>
    <dgm:cxn modelId="{35D71375-680C-477A-BF06-23E6027BD9A1}" type="presParOf" srcId="{1E1F3D2C-F1A8-40C6-8C6D-4B6F89E12DD3}" destId="{FD90120C-A373-40B3-98FC-1CA9F2AFC757}" srcOrd="10" destOrd="0" presId="urn:microsoft.com/office/officeart/2018/2/layout/IconVerticalSolidList"/>
    <dgm:cxn modelId="{7BE18C8E-99A4-4FAE-9BC7-2DB94185A85B}" type="presParOf" srcId="{FD90120C-A373-40B3-98FC-1CA9F2AFC757}" destId="{5B05088B-D158-48AD-AC06-A57BCADD3FC9}" srcOrd="0" destOrd="0" presId="urn:microsoft.com/office/officeart/2018/2/layout/IconVerticalSolidList"/>
    <dgm:cxn modelId="{C1CF75A0-7946-4DA0-81D7-803F36BE4200}" type="presParOf" srcId="{FD90120C-A373-40B3-98FC-1CA9F2AFC757}" destId="{F6F28EB9-6711-44E2-A363-7D0BCE3C876D}" srcOrd="1" destOrd="0" presId="urn:microsoft.com/office/officeart/2018/2/layout/IconVerticalSolidList"/>
    <dgm:cxn modelId="{00FF1D65-510E-4043-A9C6-3FC550748047}" type="presParOf" srcId="{FD90120C-A373-40B3-98FC-1CA9F2AFC757}" destId="{A1F7B9EB-695C-40D8-9224-58B5951C62BF}" srcOrd="2" destOrd="0" presId="urn:microsoft.com/office/officeart/2018/2/layout/IconVerticalSolidList"/>
    <dgm:cxn modelId="{1CB00E24-0DF6-463E-81DE-569A139A4B2E}" type="presParOf" srcId="{FD90120C-A373-40B3-98FC-1CA9F2AFC757}" destId="{0FD2055E-6A8D-4B9C-9D87-E31107D9D6E2}" srcOrd="3" destOrd="0" presId="urn:microsoft.com/office/officeart/2018/2/layout/IconVerticalSolidList"/>
    <dgm:cxn modelId="{15B5B930-06FB-4E1C-A73C-81BBE633F98D}" type="presParOf" srcId="{1E1F3D2C-F1A8-40C6-8C6D-4B6F89E12DD3}" destId="{DB73B0BE-D606-47E4-A5D7-411561DBD2CF}" srcOrd="11" destOrd="0" presId="urn:microsoft.com/office/officeart/2018/2/layout/IconVerticalSolidList"/>
    <dgm:cxn modelId="{E5150A87-D21E-4365-86F3-97BB2904A922}" type="presParOf" srcId="{1E1F3D2C-F1A8-40C6-8C6D-4B6F89E12DD3}" destId="{699C8411-7DCE-4E56-987C-97CDFD0BAFD3}" srcOrd="12" destOrd="0" presId="urn:microsoft.com/office/officeart/2018/2/layout/IconVerticalSolidList"/>
    <dgm:cxn modelId="{F9C72E3A-04D3-41CF-A5EF-7B93454205C9}" type="presParOf" srcId="{699C8411-7DCE-4E56-987C-97CDFD0BAFD3}" destId="{E0812BA4-C2BB-4F9F-A038-E48CB8EDBDE0}" srcOrd="0" destOrd="0" presId="urn:microsoft.com/office/officeart/2018/2/layout/IconVerticalSolidList"/>
    <dgm:cxn modelId="{3C942BF1-03EE-467B-A2C5-EC2BADA90A52}" type="presParOf" srcId="{699C8411-7DCE-4E56-987C-97CDFD0BAFD3}" destId="{E4D55360-3B14-4476-B729-3AA16B203731}" srcOrd="1" destOrd="0" presId="urn:microsoft.com/office/officeart/2018/2/layout/IconVerticalSolidList"/>
    <dgm:cxn modelId="{366732D5-7792-4444-A1F9-765E4C01C19C}" type="presParOf" srcId="{699C8411-7DCE-4E56-987C-97CDFD0BAFD3}" destId="{24030945-D8B5-4B00-AB08-CD0DA0C84E36}" srcOrd="2" destOrd="0" presId="urn:microsoft.com/office/officeart/2018/2/layout/IconVerticalSolidList"/>
    <dgm:cxn modelId="{FB4FBC8F-B451-453B-8E45-E86894E7EE2E}" type="presParOf" srcId="{699C8411-7DCE-4E56-987C-97CDFD0BAFD3}" destId="{4D5F18DE-CF94-46CB-897E-0B715C2B194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8BE36-F032-48B2-BCD5-C68679452DDA}">
      <dsp:nvSpPr>
        <dsp:cNvPr id="0" name=""/>
        <dsp:cNvSpPr/>
      </dsp:nvSpPr>
      <dsp:spPr>
        <a:xfrm>
          <a:off x="0" y="421"/>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8B0985-6D07-42CA-8A17-0A9E133F56D0}">
      <dsp:nvSpPr>
        <dsp:cNvPr id="0" name=""/>
        <dsp:cNvSpPr/>
      </dsp:nvSpPr>
      <dsp:spPr>
        <a:xfrm>
          <a:off x="175334" y="130835"/>
          <a:ext cx="318790" cy="3187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1A6848-267A-4281-8040-FBD6AD39B5E6}">
      <dsp:nvSpPr>
        <dsp:cNvPr id="0" name=""/>
        <dsp:cNvSpPr/>
      </dsp:nvSpPr>
      <dsp:spPr>
        <a:xfrm>
          <a:off x="669459" y="421"/>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kumimoji="1" lang="en-US" sz="1600" kern="1200"/>
            <a:t>Background and Motivation</a:t>
          </a:r>
          <a:endParaRPr lang="en-US" sz="1600" kern="1200"/>
        </a:p>
      </dsp:txBody>
      <dsp:txXfrm>
        <a:off x="669459" y="421"/>
        <a:ext cx="4937590" cy="579618"/>
      </dsp:txXfrm>
    </dsp:sp>
    <dsp:sp modelId="{F4C65621-43ED-41A2-80FF-206B279B5B2D}">
      <dsp:nvSpPr>
        <dsp:cNvPr id="0" name=""/>
        <dsp:cNvSpPr/>
      </dsp:nvSpPr>
      <dsp:spPr>
        <a:xfrm>
          <a:off x="0" y="724944"/>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3700C9-2279-40B8-A22D-34604651B344}">
      <dsp:nvSpPr>
        <dsp:cNvPr id="0" name=""/>
        <dsp:cNvSpPr/>
      </dsp:nvSpPr>
      <dsp:spPr>
        <a:xfrm>
          <a:off x="175334" y="855358"/>
          <a:ext cx="318790" cy="3187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3D6F2F-6861-4B66-829D-25AAB5A58D16}">
      <dsp:nvSpPr>
        <dsp:cNvPr id="0" name=""/>
        <dsp:cNvSpPr/>
      </dsp:nvSpPr>
      <dsp:spPr>
        <a:xfrm>
          <a:off x="669459" y="724944"/>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kumimoji="1" lang="en-US" sz="1600" kern="1200"/>
            <a:t>Aim</a:t>
          </a:r>
          <a:endParaRPr lang="en-US" sz="1600" kern="1200"/>
        </a:p>
      </dsp:txBody>
      <dsp:txXfrm>
        <a:off x="669459" y="724944"/>
        <a:ext cx="4937590" cy="579618"/>
      </dsp:txXfrm>
    </dsp:sp>
    <dsp:sp modelId="{D1C11046-69B3-46E9-9503-873252359862}">
      <dsp:nvSpPr>
        <dsp:cNvPr id="0" name=""/>
        <dsp:cNvSpPr/>
      </dsp:nvSpPr>
      <dsp:spPr>
        <a:xfrm>
          <a:off x="0" y="1449467"/>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70590A-02E9-4193-A640-CE3A67005515}">
      <dsp:nvSpPr>
        <dsp:cNvPr id="0" name=""/>
        <dsp:cNvSpPr/>
      </dsp:nvSpPr>
      <dsp:spPr>
        <a:xfrm>
          <a:off x="175334" y="1579881"/>
          <a:ext cx="318790" cy="3187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1AB1A7-E371-4A2C-8319-7B7D56498DB9}">
      <dsp:nvSpPr>
        <dsp:cNvPr id="0" name=""/>
        <dsp:cNvSpPr/>
      </dsp:nvSpPr>
      <dsp:spPr>
        <a:xfrm>
          <a:off x="669459" y="1449467"/>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kumimoji="1" lang="en-US" sz="1600" kern="1200"/>
            <a:t>Materials </a:t>
          </a:r>
          <a:endParaRPr lang="en-US" sz="1600" kern="1200"/>
        </a:p>
      </dsp:txBody>
      <dsp:txXfrm>
        <a:off x="669459" y="1449467"/>
        <a:ext cx="4937590" cy="579618"/>
      </dsp:txXfrm>
    </dsp:sp>
    <dsp:sp modelId="{F7DD3A86-43A1-4411-A033-F62486305C00}">
      <dsp:nvSpPr>
        <dsp:cNvPr id="0" name=""/>
        <dsp:cNvSpPr/>
      </dsp:nvSpPr>
      <dsp:spPr>
        <a:xfrm>
          <a:off x="0" y="2173990"/>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6F8197-8175-4E71-9352-6F9883D07416}">
      <dsp:nvSpPr>
        <dsp:cNvPr id="0" name=""/>
        <dsp:cNvSpPr/>
      </dsp:nvSpPr>
      <dsp:spPr>
        <a:xfrm>
          <a:off x="175334" y="2304404"/>
          <a:ext cx="318790" cy="3187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661F88-3982-4E9D-A4D1-FC4E1BC2EDB3}">
      <dsp:nvSpPr>
        <dsp:cNvPr id="0" name=""/>
        <dsp:cNvSpPr/>
      </dsp:nvSpPr>
      <dsp:spPr>
        <a:xfrm>
          <a:off x="669459" y="2173990"/>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kumimoji="1" lang="en-US" sz="1600" kern="1200"/>
            <a:t>Methods</a:t>
          </a:r>
          <a:endParaRPr lang="en-US" sz="1600" kern="1200"/>
        </a:p>
      </dsp:txBody>
      <dsp:txXfrm>
        <a:off x="669459" y="2173990"/>
        <a:ext cx="4937590" cy="579618"/>
      </dsp:txXfrm>
    </dsp:sp>
    <dsp:sp modelId="{B21523AC-65A9-49FF-A957-717E3E5EBCE4}">
      <dsp:nvSpPr>
        <dsp:cNvPr id="0" name=""/>
        <dsp:cNvSpPr/>
      </dsp:nvSpPr>
      <dsp:spPr>
        <a:xfrm>
          <a:off x="0" y="2898513"/>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79CA11-6CCA-450D-8A01-03A58A37DE4E}">
      <dsp:nvSpPr>
        <dsp:cNvPr id="0" name=""/>
        <dsp:cNvSpPr/>
      </dsp:nvSpPr>
      <dsp:spPr>
        <a:xfrm>
          <a:off x="175334" y="3028928"/>
          <a:ext cx="318790" cy="3187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4F51EC-9438-48B8-A068-F8407D4736AC}">
      <dsp:nvSpPr>
        <dsp:cNvPr id="0" name=""/>
        <dsp:cNvSpPr/>
      </dsp:nvSpPr>
      <dsp:spPr>
        <a:xfrm>
          <a:off x="669459" y="2898513"/>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kumimoji="1" lang="en-US" sz="1600" kern="1200"/>
            <a:t>Design </a:t>
          </a:r>
          <a:endParaRPr lang="en-US" sz="1600" kern="1200"/>
        </a:p>
      </dsp:txBody>
      <dsp:txXfrm>
        <a:off x="669459" y="2898513"/>
        <a:ext cx="4937590" cy="579618"/>
      </dsp:txXfrm>
    </dsp:sp>
    <dsp:sp modelId="{5B05088B-D158-48AD-AC06-A57BCADD3FC9}">
      <dsp:nvSpPr>
        <dsp:cNvPr id="0" name=""/>
        <dsp:cNvSpPr/>
      </dsp:nvSpPr>
      <dsp:spPr>
        <a:xfrm>
          <a:off x="0" y="3623037"/>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28EB9-6711-44E2-A363-7D0BCE3C876D}">
      <dsp:nvSpPr>
        <dsp:cNvPr id="0" name=""/>
        <dsp:cNvSpPr/>
      </dsp:nvSpPr>
      <dsp:spPr>
        <a:xfrm>
          <a:off x="175334" y="3753451"/>
          <a:ext cx="318790" cy="3187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D2055E-6A8D-4B9C-9D87-E31107D9D6E2}">
      <dsp:nvSpPr>
        <dsp:cNvPr id="0" name=""/>
        <dsp:cNvSpPr/>
      </dsp:nvSpPr>
      <dsp:spPr>
        <a:xfrm>
          <a:off x="669459" y="3623037"/>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lang="en-US" sz="1600" b="0" i="0" kern="1200"/>
            <a:t>Health and failure risks</a:t>
          </a:r>
          <a:endParaRPr lang="en-US" sz="1600" kern="1200"/>
        </a:p>
      </dsp:txBody>
      <dsp:txXfrm>
        <a:off x="669459" y="3623037"/>
        <a:ext cx="4937590" cy="579618"/>
      </dsp:txXfrm>
    </dsp:sp>
    <dsp:sp modelId="{E0812BA4-C2BB-4F9F-A038-E48CB8EDBDE0}">
      <dsp:nvSpPr>
        <dsp:cNvPr id="0" name=""/>
        <dsp:cNvSpPr/>
      </dsp:nvSpPr>
      <dsp:spPr>
        <a:xfrm>
          <a:off x="0" y="4347560"/>
          <a:ext cx="5607050" cy="579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55360-3B14-4476-B729-3AA16B203731}">
      <dsp:nvSpPr>
        <dsp:cNvPr id="0" name=""/>
        <dsp:cNvSpPr/>
      </dsp:nvSpPr>
      <dsp:spPr>
        <a:xfrm>
          <a:off x="175334" y="4477974"/>
          <a:ext cx="318790" cy="31879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5F18DE-CF94-46CB-897E-0B715C2B194B}">
      <dsp:nvSpPr>
        <dsp:cNvPr id="0" name=""/>
        <dsp:cNvSpPr/>
      </dsp:nvSpPr>
      <dsp:spPr>
        <a:xfrm>
          <a:off x="669459" y="4347560"/>
          <a:ext cx="4937590" cy="579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343" tIns="61343" rIns="61343" bIns="61343" numCol="1" spcCol="1270" anchor="ctr" anchorCtr="0">
          <a:noAutofit/>
        </a:bodyPr>
        <a:lstStyle/>
        <a:p>
          <a:pPr marL="0" lvl="0" indent="0" algn="l" defTabSz="711200">
            <a:lnSpc>
              <a:spcPct val="90000"/>
            </a:lnSpc>
            <a:spcBef>
              <a:spcPct val="0"/>
            </a:spcBef>
            <a:spcAft>
              <a:spcPct val="35000"/>
            </a:spcAft>
            <a:buNone/>
          </a:pPr>
          <a:r>
            <a:rPr lang="en-US" sz="1600" kern="1200"/>
            <a:t>R</a:t>
          </a:r>
          <a:r>
            <a:rPr lang="en-US" sz="1600" b="0" i="0" kern="1200"/>
            <a:t>egulatory requirements</a:t>
          </a:r>
          <a:br>
            <a:rPr lang="en-US" sz="1600" kern="1200"/>
          </a:br>
          <a:endParaRPr lang="en-US" sz="1600" kern="1200"/>
        </a:p>
      </dsp:txBody>
      <dsp:txXfrm>
        <a:off x="669459" y="4347560"/>
        <a:ext cx="4937590" cy="5796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043A2-682A-E848-9491-E9EAD688AD49}" type="datetimeFigureOut">
              <a:rPr kumimoji="1" lang="zh-TW" altLang="en-US" smtClean="0"/>
              <a:t>2024/12/1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6D1B4-EE4A-8A47-9D3E-7AC4660422AB}" type="slidenum">
              <a:rPr kumimoji="1" lang="zh-TW" altLang="en-US" smtClean="0"/>
              <a:t>‹#›</a:t>
            </a:fld>
            <a:endParaRPr kumimoji="1" lang="zh-TW" altLang="en-US"/>
          </a:p>
        </p:txBody>
      </p:sp>
    </p:spTree>
    <p:extLst>
      <p:ext uri="{BB962C8B-B14F-4D97-AF65-F5344CB8AC3E}">
        <p14:creationId xmlns:p14="http://schemas.microsoft.com/office/powerpoint/2010/main" val="285252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b="0" i="0" u="none" strike="noStrike" dirty="0">
                <a:solidFill>
                  <a:srgbClr val="000000"/>
                </a:solidFill>
                <a:effectLst/>
                <a:latin typeface="-webkit-standard"/>
              </a:rPr>
              <a:t>Hi. I am Samantha and today I am going to present my design: a </a:t>
            </a:r>
            <a:r>
              <a:rPr lang="en" altLang="zh-TW" b="1" i="0" u="none" strike="noStrike" dirty="0">
                <a:solidFill>
                  <a:srgbClr val="000000"/>
                </a:solidFill>
                <a:effectLst/>
              </a:rPr>
              <a:t>Smart Double-Network GelMA and HA Scaffold</a:t>
            </a:r>
            <a:r>
              <a:rPr lang="en" altLang="zh-TW" b="0" i="0" u="none" strike="noStrike" dirty="0">
                <a:solidFill>
                  <a:srgbClr val="000000"/>
                </a:solidFill>
                <a:effectLst/>
                <a:latin typeface="-webkit-standard"/>
              </a:rPr>
              <a:t> embedded with a PVDF sensor for cartilage regeneration. </a:t>
            </a: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1</a:t>
            </a:fld>
            <a:endParaRPr kumimoji="1" lang="zh-TW" altLang="en-US"/>
          </a:p>
        </p:txBody>
      </p:sp>
    </p:spTree>
    <p:extLst>
      <p:ext uri="{BB962C8B-B14F-4D97-AF65-F5344CB8AC3E}">
        <p14:creationId xmlns:p14="http://schemas.microsoft.com/office/powerpoint/2010/main" val="1535898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Here is the outline</a:t>
            </a: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2</a:t>
            </a:fld>
            <a:endParaRPr kumimoji="1" lang="zh-TW" altLang="en-US"/>
          </a:p>
        </p:txBody>
      </p:sp>
    </p:spTree>
    <p:extLst>
      <p:ext uri="{BB962C8B-B14F-4D97-AF65-F5344CB8AC3E}">
        <p14:creationId xmlns:p14="http://schemas.microsoft.com/office/powerpoint/2010/main" val="2642029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b="0" i="0" u="none" strike="noStrike" dirty="0">
                <a:solidFill>
                  <a:srgbClr val="000000"/>
                </a:solidFill>
                <a:effectLst/>
                <a:latin typeface="-webkit-standard"/>
              </a:rPr>
              <a:t>First is background and motivation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b="0" i="0" u="none" strike="noStrike" dirty="0">
                <a:solidFill>
                  <a:srgbClr val="000000"/>
                </a:solidFill>
                <a:effectLst/>
                <a:latin typeface="-webkit-standard"/>
              </a:rPr>
              <a:t>Cartilage injuries are difficult to repair due to the tissue's limited self-healing capacity. After surgery, patients often require proper movement and moderate knee usage to avoid re-injury, yet current scaffolds focus only on providing structural and bioactive environments. </a:t>
            </a:r>
            <a:br>
              <a:rPr lang="en" altLang="zh-TW" b="0" i="0" u="none" strike="noStrike" dirty="0">
                <a:solidFill>
                  <a:srgbClr val="000000"/>
                </a:solidFill>
                <a:effectLst/>
                <a:latin typeface="-webkit-standard"/>
              </a:rPr>
            </a:br>
            <a:r>
              <a:rPr lang="en" altLang="zh-TW" b="0" i="0" u="none" strike="noStrike" dirty="0">
                <a:solidFill>
                  <a:srgbClr val="000000"/>
                </a:solidFill>
                <a:effectLst/>
                <a:latin typeface="-webkit-standard"/>
              </a:rPr>
              <a:t>They lack the capability to monitor real-time mechanical stress or regeneration progress.</a:t>
            </a:r>
            <a:br>
              <a:rPr lang="en" altLang="zh-TW" dirty="0"/>
            </a:b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3</a:t>
            </a:fld>
            <a:endParaRPr kumimoji="1" lang="zh-TW" altLang="en-US"/>
          </a:p>
        </p:txBody>
      </p:sp>
    </p:spTree>
    <p:extLst>
      <p:ext uri="{BB962C8B-B14F-4D97-AF65-F5344CB8AC3E}">
        <p14:creationId xmlns:p14="http://schemas.microsoft.com/office/powerpoint/2010/main" val="379927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b="0" i="0" u="none" strike="noStrike" dirty="0">
                <a:solidFill>
                  <a:srgbClr val="000000"/>
                </a:solidFill>
                <a:effectLst/>
                <a:latin typeface="-webkit-standard"/>
              </a:rPr>
              <a:t>To address these limitations, I aim to design </a:t>
            </a:r>
            <a:r>
              <a:rPr lang="en" altLang="zh-TW" sz="1200" b="0" i="0" u="none" strike="noStrike" dirty="0">
                <a:solidFill>
                  <a:srgbClr val="000000"/>
                </a:solidFill>
                <a:effectLst/>
                <a:latin typeface="Times New Roman" panose="02020603050405020304" pitchFamily="18" charset="0"/>
                <a:cs typeface="Times New Roman" panose="02020603050405020304" pitchFamily="18" charset="0"/>
              </a:rPr>
              <a:t>regenerative GelMA-HA scaffold that repairs damaged cartilage and dynamically monitors mechanical stress and recovery progress by integrating a PVDF pressure sensor and a BLE module for real-time data transmission </a:t>
            </a:r>
            <a:r>
              <a:rPr lang="en" altLang="zh-TW" b="0" i="0" u="none" strike="noStrike" dirty="0">
                <a:solidFill>
                  <a:srgbClr val="000000"/>
                </a:solidFill>
                <a:effectLst/>
                <a:latin typeface="-webkit-standard"/>
              </a:rPr>
              <a:t>to a smartphone app.</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b="0" i="0" u="none" strike="noStrike" dirty="0">
                <a:solidFill>
                  <a:srgbClr val="000000"/>
                </a:solidFill>
                <a:effectLst/>
                <a:latin typeface="-webkit-standard"/>
              </a:rPr>
              <a:t>This design enables </a:t>
            </a:r>
            <a:r>
              <a:rPr lang="en" altLang="zh-TW" b="1" i="0" u="none" strike="noStrike" dirty="0">
                <a:solidFill>
                  <a:srgbClr val="000000"/>
                </a:solidFill>
                <a:effectLst/>
              </a:rPr>
              <a:t>dynamic stress monitoring</a:t>
            </a:r>
            <a:r>
              <a:rPr lang="en" altLang="zh-TW" b="0" i="0" u="none" strike="noStrike" dirty="0">
                <a:solidFill>
                  <a:srgbClr val="000000"/>
                </a:solidFill>
                <a:effectLst/>
                <a:latin typeface="-webkit-standard"/>
              </a:rPr>
              <a:t> while supporting cartilage regeneration, offering valuable data.</a:t>
            </a:r>
            <a:r>
              <a:rPr lang="en-US" altLang="zh-TW" sz="1200" dirty="0">
                <a:effectLst/>
                <a:latin typeface="Times New Roman" panose="02020603050405020304" pitchFamily="18" charset="0"/>
                <a:ea typeface="新細明體" panose="02020500000000000000" pitchFamily="18" charset="-120"/>
                <a:cs typeface="Times New Roman" panose="02020603050405020304" pitchFamily="18" charset="0"/>
              </a:rPr>
              <a:t> </a:t>
            </a:r>
            <a:endParaRPr lang="zh-TW" altLang="en-US" sz="12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4</a:t>
            </a:fld>
            <a:endParaRPr kumimoji="1" lang="zh-TW" altLang="en-US"/>
          </a:p>
        </p:txBody>
      </p:sp>
    </p:spTree>
    <p:extLst>
      <p:ext uri="{BB962C8B-B14F-4D97-AF65-F5344CB8AC3E}">
        <p14:creationId xmlns:p14="http://schemas.microsoft.com/office/powerpoint/2010/main" val="3897773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 altLang="zh-TW" b="0" i="0" u="none" strike="noStrike" dirty="0">
                <a:solidFill>
                  <a:srgbClr val="000000"/>
                </a:solidFill>
                <a:effectLst/>
              </a:rPr>
              <a:t>"Let’s begin with the Biomaterials for Double-Network Scaffold</a:t>
            </a:r>
          </a:p>
          <a:p>
            <a:pPr algn="l"/>
            <a:endParaRPr lang="en" altLang="zh-TW" b="0" i="0" u="none" strike="noStrike" dirty="0">
              <a:solidFill>
                <a:srgbClr val="000000"/>
              </a:solidFill>
              <a:effectLst/>
            </a:endParaRPr>
          </a:p>
          <a:p>
            <a:pPr algn="l"/>
            <a:r>
              <a:rPr lang="en" altLang="zh-TW" b="0" i="0" u="none" strike="noStrike" dirty="0">
                <a:solidFill>
                  <a:srgbClr val="000000"/>
                </a:solidFill>
                <a:effectLst/>
              </a:rPr>
              <a:t>First is </a:t>
            </a:r>
            <a:r>
              <a:rPr lang="en" altLang="zh-TW" b="1" i="0" u="none" strike="noStrike" dirty="0">
                <a:solidFill>
                  <a:srgbClr val="000000"/>
                </a:solidFill>
                <a:effectLst/>
              </a:rPr>
              <a:t>GelMA. </a:t>
            </a:r>
            <a:r>
              <a:rPr lang="en" altLang="zh-TW" b="0" i="0" u="none" strike="noStrike" dirty="0">
                <a:solidFill>
                  <a:srgbClr val="000000"/>
                </a:solidFill>
                <a:effectLst/>
              </a:rPr>
              <a:t>It mimics the extracellular matrix, promoting cell adhesion and proliferation. Provides </a:t>
            </a:r>
            <a:r>
              <a:rPr lang="en" altLang="zh-TW" b="0" i="0" u="none" strike="noStrike" dirty="0" err="1">
                <a:solidFill>
                  <a:srgbClr val="000000"/>
                </a:solidFill>
                <a:effectLst/>
              </a:rPr>
              <a:t>photocrosslinkable</a:t>
            </a:r>
            <a:r>
              <a:rPr lang="en" altLang="zh-TW" b="0" i="0" u="none" strike="noStrike" dirty="0">
                <a:solidFill>
                  <a:srgbClr val="000000"/>
                </a:solidFill>
                <a:effectLst/>
              </a:rPr>
              <a:t> properties enable precise mechanical tunability to match cartilage elasticity.  and also provides biocompatibility and biodegradability.</a:t>
            </a:r>
          </a:p>
          <a:p>
            <a:pPr algn="l"/>
            <a:endParaRPr lang="en" altLang="zh-TW" b="0" i="0" u="none" strike="noStrike" dirty="0">
              <a:solidFill>
                <a:srgbClr val="000000"/>
              </a:solidFill>
              <a:effectLst/>
            </a:endParaRPr>
          </a:p>
          <a:p>
            <a:pPr algn="l"/>
            <a:r>
              <a:rPr lang="en" altLang="zh-TW" b="0" i="0" u="none" strike="noStrike" dirty="0">
                <a:solidFill>
                  <a:srgbClr val="000000"/>
                </a:solidFill>
                <a:effectLst/>
              </a:rPr>
              <a:t>And then is </a:t>
            </a:r>
            <a:r>
              <a:rPr lang="en" altLang="zh-TW" b="1" i="0" u="none" strike="noStrike" dirty="0">
                <a:solidFill>
                  <a:srgbClr val="000000"/>
                </a:solidFill>
                <a:effectLst/>
              </a:rPr>
              <a:t>HA. It </a:t>
            </a:r>
            <a:r>
              <a:rPr lang="en" altLang="zh-TW" b="0" i="0" u="none" strike="noStrike" dirty="0">
                <a:solidFill>
                  <a:srgbClr val="000000"/>
                </a:solidFill>
                <a:effectLst/>
              </a:rPr>
              <a:t>enhances flexibility in the scaffold, mimics the natural cartilage, promoting extracellular matrix production. and be Used for its excellent hydrophilicity and biocompatibility.</a:t>
            </a:r>
          </a:p>
          <a:p>
            <a:pPr algn="l"/>
            <a:endParaRPr lang="en" altLang="zh-TW" b="0" i="0" u="none" strike="noStrike" dirty="0">
              <a:solidFill>
                <a:srgbClr val="000000"/>
              </a:solidFill>
              <a:effectLst/>
            </a:endParaRPr>
          </a:p>
          <a:p>
            <a:pPr algn="l"/>
            <a:r>
              <a:rPr lang="en" altLang="zh-TW" b="0" i="0" u="none" strike="noStrike" dirty="0">
                <a:solidFill>
                  <a:srgbClr val="000000"/>
                </a:solidFill>
                <a:effectLst/>
              </a:rPr>
              <a:t>Lastly is </a:t>
            </a:r>
            <a:r>
              <a:rPr lang="en" altLang="zh-TW" b="1" i="0" u="none" strike="noStrike" dirty="0">
                <a:solidFill>
                  <a:srgbClr val="000000"/>
                </a:solidFill>
                <a:effectLst/>
              </a:rPr>
              <a:t>Nanoparticles: It </a:t>
            </a:r>
            <a:r>
              <a:rPr lang="en" altLang="zh-TW" b="0" i="0" u="none" strike="noStrike" dirty="0">
                <a:solidFill>
                  <a:srgbClr val="000000"/>
                </a:solidFill>
                <a:effectLst/>
              </a:rPr>
              <a:t>Improves mechanical strength and porosity and enhances nutrient transport and cell migration within the scaffold.</a:t>
            </a:r>
          </a:p>
          <a:p>
            <a:pPr marL="0" marR="0" lvl="0" indent="0" algn="l" defTabSz="914400" rtl="0" eaLnBrk="1" fontAlgn="auto" latinLnBrk="0" hangingPunct="1">
              <a:lnSpc>
                <a:spcPct val="100000"/>
              </a:lnSpc>
              <a:spcBef>
                <a:spcPts val="0"/>
              </a:spcBef>
              <a:spcAft>
                <a:spcPts val="0"/>
              </a:spcAft>
              <a:buClrTx/>
              <a:buSzTx/>
              <a:buFont typeface="+mj-lt"/>
              <a:buNone/>
              <a:tabLst/>
              <a:defRPr/>
            </a:pPr>
            <a:br>
              <a:rPr lang="en" altLang="zh-TW" b="0" i="0" u="none" strike="noStrike" dirty="0">
                <a:solidFill>
                  <a:srgbClr val="000000"/>
                </a:solidFill>
                <a:effectLst/>
              </a:rPr>
            </a:br>
            <a:r>
              <a:rPr lang="en" altLang="zh-TW" b="0" i="0" u="none" strike="noStrike" dirty="0">
                <a:solidFill>
                  <a:srgbClr val="000000"/>
                </a:solidFill>
                <a:effectLst/>
                <a:latin typeface="+mn-lt"/>
              </a:rPr>
              <a:t>So </a:t>
            </a:r>
            <a:r>
              <a:rPr lang="en" altLang="zh-TW" b="0" i="0" u="none" strike="noStrike" dirty="0">
                <a:solidFill>
                  <a:srgbClr val="000000"/>
                </a:solidFill>
                <a:effectLst/>
                <a:latin typeface="-webkit-standard"/>
              </a:rPr>
              <a:t>This multi-layer fabrication ensures a double-network structure. The GelMA base layer provides structural stability, while the HA layer ensures tissue integration. </a:t>
            </a: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5</a:t>
            </a:fld>
            <a:endParaRPr kumimoji="1" lang="zh-TW" altLang="en-US"/>
          </a:p>
        </p:txBody>
      </p:sp>
    </p:spTree>
    <p:extLst>
      <p:ext uri="{BB962C8B-B14F-4D97-AF65-F5344CB8AC3E}">
        <p14:creationId xmlns:p14="http://schemas.microsoft.com/office/powerpoint/2010/main" val="1608096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buFont typeface="+mj-lt"/>
              <a:buNone/>
            </a:pPr>
            <a:r>
              <a:rPr lang="en" altLang="zh-TW" b="1" i="0" u="none" strike="noStrike" dirty="0">
                <a:solidFill>
                  <a:srgbClr val="000000"/>
                </a:solidFill>
                <a:effectLst/>
              </a:rPr>
              <a:t>Here is the functional materials.</a:t>
            </a:r>
          </a:p>
          <a:p>
            <a:pPr algn="l">
              <a:buFont typeface="+mj-lt"/>
              <a:buNone/>
            </a:pPr>
            <a:r>
              <a:rPr lang="en" altLang="zh-TW" b="1" i="0" u="none" strike="noStrike" dirty="0">
                <a:solidFill>
                  <a:srgbClr val="000000"/>
                </a:solidFill>
                <a:effectLst/>
              </a:rPr>
              <a:t>So first PVDF</a:t>
            </a:r>
            <a:r>
              <a:rPr lang="en" altLang="zh-TW" b="0" i="0" u="none" strike="noStrike" dirty="0">
                <a:solidFill>
                  <a:srgbClr val="000000"/>
                </a:solidFill>
                <a:effectLst/>
              </a:rPr>
              <a:t> is a piezoelectric (</a:t>
            </a:r>
            <a:r>
              <a:rPr lang="zh-TW" altLang="en-US" b="0" i="0" u="none" strike="noStrike" dirty="0">
                <a:solidFill>
                  <a:srgbClr val="000000"/>
                </a:solidFill>
                <a:effectLst/>
              </a:rPr>
              <a:t>匹欸</a:t>
            </a:r>
            <a:r>
              <a:rPr lang="en-US" altLang="zh-TW" b="0" i="0" u="none" strike="noStrike" dirty="0">
                <a:solidFill>
                  <a:srgbClr val="000000"/>
                </a:solidFill>
                <a:effectLst/>
              </a:rPr>
              <a:t>zo electric</a:t>
            </a:r>
            <a:r>
              <a:rPr lang="en" altLang="zh-TW" b="0" i="0" u="none" strike="noStrike" dirty="0">
                <a:solidFill>
                  <a:srgbClr val="000000"/>
                </a:solidFill>
                <a:effectLst/>
              </a:rPr>
              <a:t>) </a:t>
            </a: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polymer</a:t>
            </a:r>
            <a:r>
              <a:rPr lang="en" altLang="zh-TW" b="0" i="0" u="none" strike="noStrike" dirty="0">
                <a:solidFill>
                  <a:srgbClr val="000000"/>
                </a:solidFill>
                <a:effectLst/>
              </a:rPr>
              <a:t> that generates electrical signals under mechanical stress. This allows the scaffold to monitor pressure changes in real time.</a:t>
            </a:r>
          </a:p>
          <a:p>
            <a:pPr algn="l">
              <a:buFont typeface="+mj-lt"/>
              <a:buNone/>
            </a:pPr>
            <a:endParaRPr lang="en" altLang="zh-TW" b="0" i="0" u="none" strike="noStrike" dirty="0">
              <a:solidFill>
                <a:srgbClr val="000000"/>
              </a:solidFill>
              <a:effectLst/>
            </a:endParaRPr>
          </a:p>
          <a:p>
            <a:pPr algn="l">
              <a:buFont typeface="+mj-lt"/>
              <a:buNone/>
            </a:pPr>
            <a:r>
              <a:rPr lang="en" altLang="zh-TW" b="0" i="0" u="none" strike="noStrike" dirty="0">
                <a:solidFill>
                  <a:srgbClr val="000000"/>
                </a:solidFill>
                <a:effectLst/>
              </a:rPr>
              <a:t>And </a:t>
            </a:r>
            <a:r>
              <a:rPr lang="en" altLang="zh-TW" b="1" i="0" u="none" strike="noStrike" dirty="0">
                <a:solidFill>
                  <a:srgbClr val="000000"/>
                </a:solidFill>
                <a:effectLst/>
              </a:rPr>
              <a:t>PDMS </a:t>
            </a:r>
            <a:r>
              <a:rPr lang="en" altLang="zh-TW" b="0" i="0" u="none" strike="noStrike" dirty="0">
                <a:solidFill>
                  <a:srgbClr val="000000"/>
                </a:solidFill>
                <a:effectLst/>
              </a:rPr>
              <a:t> encapsulates the PVDF sensor and other electronic components, protecting it from moisture and ensuring biocompatibility. </a:t>
            </a:r>
            <a:r>
              <a:rPr lang="en" altLang="zh-TW" b="0" i="0" u="none" strike="noStrike" dirty="0">
                <a:solidFill>
                  <a:srgbClr val="000000"/>
                </a:solidFill>
                <a:effectLst/>
                <a:latin typeface="-webkit-standard"/>
              </a:rPr>
              <a:t>The sensor monitors mechanical stress, transmitting data wirelessly via BLE. </a:t>
            </a:r>
            <a:endParaRPr kumimoji="1" lang="en" altLang="zh-TW" b="0" i="0" u="none" strike="noStrike" dirty="0">
              <a:solidFill>
                <a:srgbClr val="000000"/>
              </a:solidFill>
              <a:effectLst/>
            </a:endParaRPr>
          </a:p>
          <a:p>
            <a:pPr algn="l">
              <a:buFont typeface="+mj-lt"/>
              <a:buNone/>
            </a:pPr>
            <a:endParaRPr lang="en" altLang="zh-TW" b="0" i="0" u="none" strike="noStrike" dirty="0">
              <a:solidFill>
                <a:srgbClr val="000000"/>
              </a:solidFill>
              <a:effectLst/>
            </a:endParaRPr>
          </a:p>
          <a:p>
            <a:pPr algn="l">
              <a:buFont typeface="+mj-lt"/>
              <a:buNone/>
            </a:pPr>
            <a:endParaRPr lang="en" altLang="zh-TW" b="0" i="0" u="none" strike="noStrike" dirty="0">
              <a:solidFill>
                <a:srgbClr val="000000"/>
              </a:solidFill>
              <a:effectLst/>
              <a:latin typeface="Times New Roman" panose="02020603050405020304" pitchFamily="18" charset="0"/>
              <a:cs typeface="Times New Roman" panose="02020603050405020304" pitchFamily="18" charset="0"/>
            </a:endParaRPr>
          </a:p>
          <a:p>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6</a:t>
            </a:fld>
            <a:endParaRPr kumimoji="1" lang="zh-TW" altLang="en-US"/>
          </a:p>
        </p:txBody>
      </p:sp>
    </p:spTree>
    <p:extLst>
      <p:ext uri="{BB962C8B-B14F-4D97-AF65-F5344CB8AC3E}">
        <p14:creationId xmlns:p14="http://schemas.microsoft.com/office/powerpoint/2010/main" val="3968869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 altLang="zh-TW" b="0" i="0" u="none" strike="noStrike" dirty="0">
                <a:solidFill>
                  <a:srgbClr val="000000"/>
                </a:solidFill>
                <a:effectLst/>
              </a:rPr>
              <a:t>The scaffold consists of two layers:</a:t>
            </a:r>
          </a:p>
          <a:p>
            <a:pPr algn="l">
              <a:buFont typeface="+mj-lt"/>
              <a:buAutoNum type="arabicPeriod"/>
            </a:pPr>
            <a:r>
              <a:rPr lang="en" altLang="zh-TW" b="1" i="0" u="none" strike="noStrike" dirty="0">
                <a:solidFill>
                  <a:srgbClr val="000000"/>
                </a:solidFill>
                <a:effectLst/>
              </a:rPr>
              <a:t>Layer 1 is GelMA + Nanoparticle Base: </a:t>
            </a: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The solution will contain GelMA, HA and nanoparticles. </a:t>
            </a:r>
            <a:r>
              <a:rPr lang="en" altLang="zh-TW" b="0" i="0" u="none" strike="noStrike" dirty="0">
                <a:solidFill>
                  <a:srgbClr val="000000"/>
                </a:solidFill>
                <a:effectLst/>
              </a:rPr>
              <a:t>During printing, the PDMS-encapsulated PVDF sensor is embedded within the GelMA base. UV crosslinking solidifies the structure, ensuring proper integration</a:t>
            </a:r>
          </a:p>
          <a:p>
            <a:pPr algn="l">
              <a:buFont typeface="+mj-lt"/>
              <a:buAutoNum type="arabicPeriod"/>
            </a:pPr>
            <a:r>
              <a:rPr lang="en" altLang="zh-TW" b="0" i="0" u="none" strike="noStrike" dirty="0">
                <a:solidFill>
                  <a:srgbClr val="000000"/>
                </a:solidFill>
                <a:effectLst/>
              </a:rPr>
              <a:t> And in </a:t>
            </a:r>
            <a:r>
              <a:rPr lang="en" altLang="zh-TW" b="1" i="0" u="none" strike="noStrike" dirty="0">
                <a:solidFill>
                  <a:srgbClr val="000000"/>
                </a:solidFill>
                <a:effectLst/>
              </a:rPr>
              <a:t>Layer 2 is HA Flexible Network:</a:t>
            </a:r>
            <a:r>
              <a:rPr lang="en" altLang="zh-TW" b="0" i="0" u="none" strike="noStrike" dirty="0">
                <a:solidFill>
                  <a:srgbClr val="000000"/>
                </a:solidFill>
                <a:effectLst/>
              </a:rPr>
              <a:t> The crosslinked GelMA base layer, which is the first layer, is immersed in HA solution, containing crosslinking agents. Do Chemical crosslinking to form a stable network that enhances flexibility and bioactivity. </a:t>
            </a:r>
          </a:p>
          <a:p>
            <a:pPr algn="l">
              <a:buFont typeface="+mj-lt"/>
              <a:buAutoNum type="arabicPeriod"/>
            </a:pPr>
            <a:endParaRPr kumimoji="1" lang="en" altLang="zh-TW" b="0" i="0" u="none" strike="noStrike" dirty="0">
              <a:solidFill>
                <a:srgbClr val="000000"/>
              </a:solidFill>
              <a:effectLst/>
            </a:endParaRPr>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7</a:t>
            </a:fld>
            <a:endParaRPr kumimoji="1" lang="zh-TW" altLang="en-US"/>
          </a:p>
        </p:txBody>
      </p:sp>
    </p:spTree>
    <p:extLst>
      <p:ext uri="{BB962C8B-B14F-4D97-AF65-F5344CB8AC3E}">
        <p14:creationId xmlns:p14="http://schemas.microsoft.com/office/powerpoint/2010/main" val="3286143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b="0" i="0" u="none" strike="noStrike" dirty="0">
                <a:solidFill>
                  <a:srgbClr val="000000"/>
                </a:solidFill>
                <a:effectLst/>
                <a:latin typeface="-webkit-standard"/>
              </a:rPr>
              <a:t>I think maybe This diagram that I draw by using biorender will be more clear to illustrate the scaffold’s functional design. </a:t>
            </a:r>
          </a:p>
          <a:p>
            <a:r>
              <a:rPr lang="en" altLang="zh-TW" b="0" i="0" u="none" strike="noStrike" dirty="0">
                <a:solidFill>
                  <a:srgbClr val="000000"/>
                </a:solidFill>
                <a:effectLst/>
                <a:latin typeface="-webkit-standard"/>
              </a:rPr>
              <a:t>This is not the actual synthesis, its just a Schematic (</a:t>
            </a:r>
            <a:r>
              <a:rPr lang="zh-TW" altLang="en-US" b="0" i="0" u="none" strike="noStrike" dirty="0">
                <a:solidFill>
                  <a:srgbClr val="000000"/>
                </a:solidFill>
                <a:effectLst/>
                <a:latin typeface="-webkit-standard"/>
              </a:rPr>
              <a:t>死鴿</a:t>
            </a:r>
            <a:r>
              <a:rPr lang="en-US" altLang="zh-TW" b="0" i="0" u="none" strike="noStrike" dirty="0" err="1">
                <a:solidFill>
                  <a:srgbClr val="000000"/>
                </a:solidFill>
                <a:effectLst/>
                <a:latin typeface="-webkit-standard"/>
              </a:rPr>
              <a:t>metic</a:t>
            </a:r>
            <a:r>
              <a:rPr lang="en" altLang="zh-TW" b="0" i="0" u="none" strike="noStrike" dirty="0">
                <a:solidFill>
                  <a:srgbClr val="000000"/>
                </a:solidFill>
                <a:effectLst/>
                <a:latin typeface="-webkit-standard"/>
              </a:rPr>
              <a:t>) diagram, so don’t worry too much about</a:t>
            </a:r>
            <a:r>
              <a:rPr lang="zh-TW" altLang="en-US" b="0" i="0" u="none" strike="noStrike" dirty="0">
                <a:solidFill>
                  <a:srgbClr val="000000"/>
                </a:solidFill>
                <a:effectLst/>
                <a:latin typeface="-webkit-standard"/>
              </a:rPr>
              <a:t> </a:t>
            </a:r>
            <a:r>
              <a:rPr lang="en-US" altLang="zh-TW" b="0" i="0" u="none" strike="noStrike" dirty="0">
                <a:solidFill>
                  <a:srgbClr val="000000"/>
                </a:solidFill>
                <a:effectLst/>
                <a:latin typeface="-webkit-standard"/>
              </a:rPr>
              <a:t>the</a:t>
            </a:r>
            <a:r>
              <a:rPr lang="en" altLang="zh-TW" b="0" i="0" u="none" strike="noStrike" dirty="0">
                <a:solidFill>
                  <a:srgbClr val="000000"/>
                </a:solidFill>
                <a:effectLst/>
                <a:latin typeface="-webkit-standard"/>
              </a:rPr>
              <a:t> shape.</a:t>
            </a:r>
          </a:p>
          <a:p>
            <a:r>
              <a:rPr lang="en" altLang="zh-TW" b="0" i="0" u="none" strike="noStrike" dirty="0">
                <a:solidFill>
                  <a:srgbClr val="000000"/>
                </a:solidFill>
                <a:effectLst/>
                <a:latin typeface="-webkit-standard"/>
              </a:rPr>
              <a:t>Ok. So here in the diagram the orange part is the electronic components and then do plasma treatment for surface modification and embed it in PDMS for protection, and the thickness of it will be around 50 micrometers. It achieves the isolation function without affecting the accuracy of the PVDF sensor.</a:t>
            </a:r>
            <a:r>
              <a:rPr lang="zh-TW" altLang="en-US" b="0" i="0" u="none" strike="noStrike" dirty="0">
                <a:solidFill>
                  <a:srgbClr val="000000"/>
                </a:solidFill>
                <a:effectLst/>
                <a:latin typeface="-webkit-standard"/>
              </a:rPr>
              <a:t> </a:t>
            </a:r>
            <a:endParaRPr lang="en-US" altLang="zh-TW" b="0" i="0" u="none" strike="noStrike" dirty="0">
              <a:solidFill>
                <a:srgbClr val="000000"/>
              </a:solidFill>
              <a:effectLst/>
              <a:latin typeface="-webkit-standard"/>
            </a:endParaRPr>
          </a:p>
          <a:p>
            <a:r>
              <a:rPr lang="en-US" altLang="zh-TW" b="0" i="0" u="none" strike="noStrike" dirty="0">
                <a:solidFill>
                  <a:srgbClr val="000000"/>
                </a:solidFill>
                <a:effectLst/>
                <a:latin typeface="-webkit-standard"/>
              </a:rPr>
              <a:t>And then do HA coating. </a:t>
            </a:r>
          </a:p>
          <a:p>
            <a:endParaRPr lang="en-US" altLang="zh-TW" b="0" i="0" u="none" strike="noStrike" dirty="0">
              <a:solidFill>
                <a:srgbClr val="000000"/>
              </a:solidFill>
              <a:effectLst/>
              <a:latin typeface="-webkit-standard"/>
            </a:endParaRPr>
          </a:p>
          <a:p>
            <a:r>
              <a:rPr lang="en-US" altLang="zh-TW" b="0" i="0" u="none" strike="noStrike" dirty="0">
                <a:solidFill>
                  <a:srgbClr val="000000"/>
                </a:solidFill>
                <a:effectLst/>
                <a:latin typeface="-webkit-standard"/>
              </a:rPr>
              <a:t>During</a:t>
            </a:r>
            <a:r>
              <a:rPr lang="en" altLang="zh-TW" b="0" i="0" u="none" strike="noStrike" dirty="0">
                <a:solidFill>
                  <a:srgbClr val="000000"/>
                </a:solidFill>
                <a:effectLst/>
              </a:rPr>
              <a:t> 3D printing, the PDMS-encapsulated PVDF sensor is embedded within the GelMA base. UV crosslinking solidifies the structure, ensuring proper integration. Then it will be immersed in HA solution and do Chemical crosslinking to form a stable network. </a:t>
            </a:r>
            <a:endParaRPr lang="en" altLang="zh-TW" b="0" i="0" u="none" strike="noStrike" dirty="0">
              <a:solidFill>
                <a:srgbClr val="000000"/>
              </a:solidFill>
              <a:effectLst/>
              <a:latin typeface="-webkit-standard"/>
            </a:endParaRPr>
          </a:p>
          <a:p>
            <a:endParaRPr kumimoji="1" lang="en" altLang="zh-TW" b="0" i="0" u="none" strike="noStrike" dirty="0">
              <a:solidFill>
                <a:srgbClr val="000000"/>
              </a:solidFill>
              <a:effectLst/>
              <a:latin typeface="-webkit-standard"/>
            </a:endParaRPr>
          </a:p>
          <a:p>
            <a:endParaRPr kumimoji="1" lang="en" altLang="zh-TW" b="0" i="0" u="none" strike="noStrike" dirty="0">
              <a:solidFill>
                <a:srgbClr val="000000"/>
              </a:solidFill>
              <a:effectLst/>
              <a:latin typeface="-webkit-standard"/>
            </a:endParaRPr>
          </a:p>
          <a:p>
            <a:endParaRPr kumimoji="1" lang="en" altLang="zh-TW" b="0" i="0" u="none" strike="noStrike" dirty="0">
              <a:solidFill>
                <a:srgbClr val="000000"/>
              </a:solidFill>
              <a:effectLst/>
              <a:latin typeface="-webkit-standard"/>
            </a:endParaRPr>
          </a:p>
          <a:p>
            <a:r>
              <a:rPr kumimoji="1" lang="en" altLang="zh-TW" dirty="0"/>
              <a:t>Length and width:</a:t>
            </a:r>
          </a:p>
          <a:p>
            <a:r>
              <a:rPr kumimoji="1" lang="en" altLang="zh-TW" dirty="0"/>
              <a:t>Diameter: 10-30 mm, designed as a round or oval structure according to the defect location.</a:t>
            </a:r>
          </a:p>
          <a:p>
            <a:r>
              <a:rPr kumimoji="1" lang="en" altLang="zh-TW" dirty="0"/>
              <a:t>Thickness: 1-3 mm, ensuring a double network layer containing GelMA and HA, as well as a protective layer of PVDF and PDMS elements.</a:t>
            </a:r>
          </a:p>
          <a:p>
            <a:r>
              <a:rPr kumimoji="1" lang="en" altLang="zh-TW" dirty="0"/>
              <a:t>PVDF pressure sensor size:</a:t>
            </a:r>
          </a:p>
          <a:p>
            <a:r>
              <a:rPr kumimoji="1" lang="en" altLang="zh-TW" dirty="0"/>
              <a:t>Typically thin films are used, with a thickness of approximately 10-50 </a:t>
            </a:r>
            <a:r>
              <a:rPr kumimoji="1" lang="el-GR" altLang="zh-TW" dirty="0"/>
              <a:t>μ</a:t>
            </a:r>
            <a:r>
              <a:rPr kumimoji="1" lang="en" altLang="zh-TW" dirty="0"/>
              <a:t>m (thinner 10 </a:t>
            </a:r>
            <a:r>
              <a:rPr kumimoji="1" lang="el-GR" altLang="zh-TW" dirty="0"/>
              <a:t>μ</a:t>
            </a:r>
            <a:r>
              <a:rPr kumimoji="1" lang="en" altLang="zh-TW" dirty="0"/>
              <a:t>m is recommended for increased sensitivity).</a:t>
            </a:r>
          </a:p>
          <a:p>
            <a:r>
              <a:rPr kumimoji="1" lang="en" altLang="zh-TW" dirty="0"/>
              <a:t>The length and width should be smaller than the entire stent area (e.g. 5-10 mm) to ensure that the pressure distribution can be accurately sensed.</a:t>
            </a:r>
          </a:p>
          <a:p>
            <a:r>
              <a:rPr kumimoji="1" lang="en" altLang="zh-TW" dirty="0"/>
              <a:t>PDMS wrapping layer:</a:t>
            </a:r>
          </a:p>
          <a:p>
            <a:r>
              <a:rPr kumimoji="1" lang="en" altLang="zh-TW" dirty="0"/>
              <a:t>The thickness should be controlled at 0.1-0.2 mm, which can protect electronic components without affecting their sensitivity.</a:t>
            </a:r>
          </a:p>
          <a:p>
            <a:r>
              <a:rPr kumimoji="1" lang="en" altLang="zh-TW" dirty="0"/>
              <a:t>Overall design reference:</a:t>
            </a:r>
          </a:p>
          <a:p>
            <a:r>
              <a:rPr kumimoji="1" lang="en" altLang="zh-TW" dirty="0"/>
              <a:t>Device design should be within the range of 15-30 mm (diameter) × 1.5-3 mm (thickness), adjusted according to actual patient conditions.</a:t>
            </a: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8</a:t>
            </a:fld>
            <a:endParaRPr kumimoji="1" lang="zh-TW" altLang="en-US"/>
          </a:p>
        </p:txBody>
      </p:sp>
    </p:spTree>
    <p:extLst>
      <p:ext uri="{BB962C8B-B14F-4D97-AF65-F5344CB8AC3E}">
        <p14:creationId xmlns:p14="http://schemas.microsoft.com/office/powerpoint/2010/main" val="1666401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b="0" i="0" u="none" strike="noStrike" dirty="0">
                <a:solidFill>
                  <a:srgbClr val="000000"/>
                </a:solidFill>
                <a:effectLst/>
                <a:latin typeface="-webkit-standard"/>
              </a:rPr>
              <a:t>So actually the device will be a circular shape with a diameter within 1 cm and a </a:t>
            </a:r>
            <a:r>
              <a:rPr lang="en" altLang="zh-TW" b="0" i="0" u="none" strike="noStrike" dirty="0">
                <a:solidFill>
                  <a:srgbClr val="000000"/>
                </a:solidFill>
                <a:effectLst/>
                <a:latin typeface="-webkit-standard"/>
              </a:rPr>
              <a:t>1-3 mm thickness.</a:t>
            </a:r>
            <a:endParaRPr kumimoji="1" lang="en" altLang="zh-TW" b="0" i="0" u="none" strike="noStrike" dirty="0">
              <a:solidFill>
                <a:srgbClr val="000000"/>
              </a:solidFill>
              <a:effectLst/>
              <a:latin typeface="-webkit-standar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TW" b="0" i="0" u="none" strike="noStrike" dirty="0">
              <a:solidFill>
                <a:srgbClr val="000000"/>
              </a:solidFill>
              <a:effectLst/>
              <a:latin typeface="-webkit-standard"/>
            </a:endParaRPr>
          </a:p>
          <a:p>
            <a:r>
              <a:rPr lang="en" altLang="zh-TW" b="0" i="0" u="none" strike="noStrike" dirty="0">
                <a:solidFill>
                  <a:srgbClr val="000000"/>
                </a:solidFill>
                <a:effectLst/>
                <a:latin typeface="-webkit-standard"/>
              </a:rPr>
              <a:t>The illustration shows the </a:t>
            </a:r>
            <a:r>
              <a:rPr lang="en" altLang="zh-TW" b="1" i="0" u="none" strike="noStrike" dirty="0">
                <a:solidFill>
                  <a:srgbClr val="000000"/>
                </a:solidFill>
                <a:effectLst/>
              </a:rPr>
              <a:t>device implanted in a knee joint</a:t>
            </a:r>
            <a:r>
              <a:rPr lang="en" altLang="zh-TW" b="0" i="0" u="none" strike="noStrike" dirty="0">
                <a:solidFill>
                  <a:srgbClr val="000000"/>
                </a:solidFill>
                <a:effectLst/>
                <a:latin typeface="-webkit-standard"/>
              </a:rPr>
              <a:t>, positioned within the defect area of the cartilage, during </a:t>
            </a:r>
            <a:r>
              <a:rPr lang="en" altLang="zh-TW" b="0" i="0" u="none" strike="noStrike" dirty="0" err="1">
                <a:solidFill>
                  <a:srgbClr val="000000"/>
                </a:solidFill>
                <a:effectLst/>
                <a:latin typeface="-webkit-standard"/>
              </a:rPr>
              <a:t>surgey</a:t>
            </a:r>
            <a:r>
              <a:rPr lang="en" altLang="zh-TW" b="0" i="0" u="none" strike="noStrike" dirty="0">
                <a:solidFill>
                  <a:srgbClr val="000000"/>
                </a:solidFill>
                <a:effectLst/>
                <a:latin typeface="-webkit-standard"/>
              </a:rPr>
              <a:t>. (</a:t>
            </a:r>
            <a:r>
              <a:rPr lang="zh-TW" altLang="en-US" b="0" i="0" u="none" strike="noStrike" dirty="0">
                <a:solidFill>
                  <a:srgbClr val="000000"/>
                </a:solidFill>
                <a:effectLst/>
                <a:latin typeface="-webkit-standard"/>
              </a:rPr>
              <a:t>按</a:t>
            </a:r>
            <a:r>
              <a:rPr lang="en" altLang="zh-TW" b="0" i="0" u="none" strike="noStrike" dirty="0">
                <a:solidFill>
                  <a:srgbClr val="000000"/>
                </a:solidFill>
                <a:effectLst/>
                <a:latin typeface="-webkit-standard"/>
              </a:rPr>
              <a:t>) This placement ensures direct interaction with surrounding tissues to promote cartilage regeneration.</a:t>
            </a:r>
          </a:p>
          <a:p>
            <a:r>
              <a:rPr kumimoji="1" lang="zh-TW" altLang="en-US" b="0" i="0" u="none" strike="noStrike" dirty="0">
                <a:solidFill>
                  <a:srgbClr val="000000"/>
                </a:solidFill>
                <a:effectLst/>
                <a:latin typeface="-webkit-standard"/>
              </a:rPr>
              <a:t> （按）</a:t>
            </a:r>
            <a:r>
              <a:rPr lang="en" altLang="zh-TW" dirty="0"/>
              <a:t>The scaffold experiences </a:t>
            </a:r>
            <a:r>
              <a:rPr lang="en" altLang="zh-TW" b="1" dirty="0"/>
              <a:t>vertical forces</a:t>
            </a:r>
            <a:r>
              <a:rPr lang="en" altLang="zh-TW" dirty="0"/>
              <a:t> during weight-bearing activities such as walking, running, and jumping. These dynamic mechanical stresses are monitored in real-time by the </a:t>
            </a:r>
            <a:r>
              <a:rPr lang="en" altLang="zh-TW" b="1" dirty="0"/>
              <a:t>PVDF pressure sensor</a:t>
            </a:r>
            <a:r>
              <a:rPr lang="en" altLang="zh-TW" dirty="0"/>
              <a:t> embedded in the scaffold</a:t>
            </a:r>
          </a:p>
          <a:p>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9</a:t>
            </a:fld>
            <a:endParaRPr kumimoji="1" lang="zh-TW" altLang="en-US"/>
          </a:p>
        </p:txBody>
      </p:sp>
    </p:spTree>
    <p:extLst>
      <p:ext uri="{BB962C8B-B14F-4D97-AF65-F5344CB8AC3E}">
        <p14:creationId xmlns:p14="http://schemas.microsoft.com/office/powerpoint/2010/main" val="3402001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 altLang="zh-TW" sz="4000" b="0" i="0" u="none" strike="noStrike" dirty="0">
                <a:solidFill>
                  <a:srgbClr val="000000"/>
                </a:solidFill>
                <a:effectLst/>
              </a:rPr>
              <a:t>Despite its advantages, this design poses some risks:</a:t>
            </a:r>
          </a:p>
          <a:p>
            <a:pPr algn="l"/>
            <a:r>
              <a:rPr lang="en" altLang="zh-TW" sz="4000" b="1" i="0" u="none" strike="noStrike" dirty="0">
                <a:solidFill>
                  <a:srgbClr val="000000"/>
                </a:solidFill>
                <a:effectLst/>
              </a:rPr>
              <a:t>Biocompatibility:</a:t>
            </a:r>
            <a:r>
              <a:rPr lang="en" altLang="zh-TW" sz="4000" b="0" i="0" u="none" strike="noStrike" dirty="0">
                <a:solidFill>
                  <a:srgbClr val="000000"/>
                </a:solidFill>
                <a:effectLst/>
              </a:rPr>
              <a:t> </a:t>
            </a:r>
          </a:p>
          <a:p>
            <a:pPr algn="l"/>
            <a:r>
              <a:rPr lang="en" altLang="zh-TW" sz="4000" b="0" i="0" u="none" strike="noStrike" dirty="0">
                <a:solidFill>
                  <a:srgbClr val="000000"/>
                </a:solidFill>
                <a:effectLst/>
              </a:rPr>
              <a:t>Non-biodegradable components such as </a:t>
            </a:r>
            <a:r>
              <a:rPr lang="en" altLang="zh-TW" sz="4000" b="1" i="0" u="none" strike="noStrike" dirty="0">
                <a:solidFill>
                  <a:srgbClr val="000000"/>
                </a:solidFill>
                <a:effectLst/>
              </a:rPr>
              <a:t>PDMS</a:t>
            </a:r>
            <a:r>
              <a:rPr lang="en" altLang="zh-TW" sz="4000" b="0" i="0" u="none" strike="noStrike" dirty="0">
                <a:solidFill>
                  <a:srgbClr val="000000"/>
                </a:solidFill>
                <a:effectLst/>
              </a:rPr>
              <a:t> and </a:t>
            </a:r>
            <a:r>
              <a:rPr lang="en" altLang="zh-TW" sz="4000" b="1" i="0" u="none" strike="noStrike" dirty="0">
                <a:solidFill>
                  <a:srgbClr val="000000"/>
                </a:solidFill>
                <a:effectLst/>
              </a:rPr>
              <a:t>PVDF</a:t>
            </a:r>
            <a:r>
              <a:rPr lang="en" altLang="zh-TW" sz="4000" b="0" i="0" u="none" strike="noStrike" dirty="0">
                <a:solidFill>
                  <a:srgbClr val="000000"/>
                </a:solidFill>
                <a:effectLst/>
              </a:rPr>
              <a:t> present potential long-term risks as they remain in the body after their functional lifespan. Unlike biodegradable materials, such as GelMA and HA, that naturally degrade and are absorbed by the body, these non-biodegradable components may lead to </a:t>
            </a:r>
            <a:r>
              <a:rPr lang="en" altLang="zh-TW" sz="4000" b="1" i="0" u="none" strike="noStrike" dirty="0">
                <a:solidFill>
                  <a:srgbClr val="000000"/>
                </a:solidFill>
                <a:effectLst/>
              </a:rPr>
              <a:t> inflammatory responses</a:t>
            </a:r>
            <a:r>
              <a:rPr lang="en" altLang="zh-TW" sz="4000" b="0" i="0" u="none" strike="noStrike" dirty="0">
                <a:solidFill>
                  <a:srgbClr val="000000"/>
                </a:solidFill>
                <a:effectLst/>
              </a:rPr>
              <a:t> or encapsulation by surrounding tissues over time</a:t>
            </a:r>
          </a:p>
          <a:p>
            <a:pPr algn="l"/>
            <a:endParaRPr lang="en" altLang="zh-TW" sz="4000" b="0" i="0" u="none" strike="noStrike" dirty="0">
              <a:solidFill>
                <a:srgbClr val="000000"/>
              </a:solidFill>
              <a:effectLst/>
            </a:endParaRPr>
          </a:p>
          <a:p>
            <a:pPr algn="l"/>
            <a:r>
              <a:rPr lang="en" altLang="zh-TW" sz="4000" b="1" i="0" u="none" strike="noStrike" dirty="0">
                <a:solidFill>
                  <a:srgbClr val="000000"/>
                </a:solidFill>
                <a:effectLst/>
              </a:rPr>
              <a:t>Infection Risk:</a:t>
            </a:r>
            <a:r>
              <a:rPr lang="en" altLang="zh-TW" sz="4000" b="0" i="0" u="none" strike="noStrike" dirty="0">
                <a:solidFill>
                  <a:srgbClr val="000000"/>
                </a:solidFill>
                <a:effectLst/>
              </a:rPr>
              <a:t> As an implantable device, the surgical procedures are essential to minimize infection.</a:t>
            </a:r>
          </a:p>
          <a:p>
            <a:pPr algn="l"/>
            <a:endParaRPr lang="en" altLang="zh-TW" sz="4000" b="0" i="0" u="none" strike="noStrike" dirty="0">
              <a:solidFill>
                <a:srgbClr val="000000"/>
              </a:solidFill>
              <a:effectLst/>
            </a:endParaRPr>
          </a:p>
          <a:p>
            <a:pPr algn="l"/>
            <a:r>
              <a:rPr lang="en" altLang="zh-TW" sz="4000" b="1" i="0" u="none" strike="noStrike" dirty="0">
                <a:solidFill>
                  <a:srgbClr val="000000"/>
                </a:solidFill>
                <a:effectLst/>
              </a:rPr>
              <a:t>Sensor Accuracy:</a:t>
            </a:r>
            <a:r>
              <a:rPr lang="en" altLang="zh-TW" sz="4000" b="0" i="0" u="none" strike="noStrike" dirty="0">
                <a:solidFill>
                  <a:srgbClr val="000000"/>
                </a:solidFill>
                <a:effectLst/>
              </a:rPr>
              <a:t> PDMS encapsulation could reduce sensor sensitivity, and improper placement or material thickness might affect pressure readings. BLE transmission could also experience signal interference.</a:t>
            </a:r>
          </a:p>
          <a:p>
            <a:r>
              <a:rPr lang="en" altLang="zh-TW" sz="4000" b="0" i="0" u="none" strike="noStrike" dirty="0">
                <a:solidFill>
                  <a:srgbClr val="000000"/>
                </a:solidFill>
                <a:effectLst/>
              </a:rPr>
              <a:t> </a:t>
            </a:r>
          </a:p>
          <a:p>
            <a:r>
              <a:rPr lang="en" altLang="zh-TW" sz="4000" b="0" i="0" u="none" strike="noStrike" dirty="0">
                <a:solidFill>
                  <a:srgbClr val="000000"/>
                </a:solidFill>
                <a:effectLst/>
              </a:rPr>
              <a:t>As I mentioned, </a:t>
            </a:r>
            <a:r>
              <a:rPr lang="en" altLang="zh-TW" sz="5400" i="0" u="none" strike="noStrike" dirty="0">
                <a:solidFill>
                  <a:srgbClr val="000000"/>
                </a:solidFill>
                <a:effectLst/>
                <a:latin typeface="Times New Roman" panose="02020603050405020304" pitchFamily="18" charset="0"/>
                <a:cs typeface="Times New Roman" panose="02020603050405020304" pitchFamily="18" charset="0"/>
              </a:rPr>
              <a:t>Non-biodegradable components such as PDMS and PVDF, if left in the body, could lead to long-term risks.</a:t>
            </a:r>
          </a:p>
          <a:p>
            <a:endParaRPr lang="en" altLang="zh-TW" sz="4000" b="0" i="0" u="none" strike="noStrike" dirty="0">
              <a:solidFill>
                <a:srgbClr val="000000"/>
              </a:solidFill>
              <a:effectLst/>
            </a:endParaRPr>
          </a:p>
          <a:p>
            <a:pPr algn="l"/>
            <a:r>
              <a:rPr lang="en" altLang="zh-TW" sz="4000" b="0" i="0" u="none" strike="noStrike" dirty="0">
                <a:solidFill>
                  <a:srgbClr val="000000"/>
                </a:solidFill>
                <a:effectLst/>
              </a:rPr>
              <a:t>These risks must be addressed through testing and design optimization.</a:t>
            </a:r>
          </a:p>
          <a:p>
            <a:endParaRPr kumimoji="1" lang="zh-TW" altLang="en-US" sz="4000"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10</a:t>
            </a:fld>
            <a:endParaRPr kumimoji="1" lang="zh-TW" altLang="en-US"/>
          </a:p>
        </p:txBody>
      </p:sp>
    </p:spTree>
    <p:extLst>
      <p:ext uri="{BB962C8B-B14F-4D97-AF65-F5344CB8AC3E}">
        <p14:creationId xmlns:p14="http://schemas.microsoft.com/office/powerpoint/2010/main" val="102480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b="0" i="0" u="none" strike="noStrike" dirty="0">
                <a:solidFill>
                  <a:srgbClr val="000000"/>
                </a:solidFill>
                <a:effectLst/>
              </a:rPr>
              <a:t>To comply with FDA or Health Canada regulatory (</a:t>
            </a:r>
            <a:r>
              <a:rPr lang="zh-TW" altLang="en-US" b="0" i="0" u="none" strike="noStrike" dirty="0">
                <a:solidFill>
                  <a:srgbClr val="000000"/>
                </a:solidFill>
                <a:effectLst/>
              </a:rPr>
              <a:t>ㄖㄨㄟ </a:t>
            </a:r>
            <a:r>
              <a:rPr lang="en-US" altLang="zh-TW" b="0" i="0" u="none" strike="noStrike" dirty="0" err="1">
                <a:solidFill>
                  <a:srgbClr val="000000"/>
                </a:solidFill>
                <a:effectLst/>
              </a:rPr>
              <a:t>gu</a:t>
            </a:r>
            <a:r>
              <a:rPr lang="zh-TW" altLang="en-US" b="0" i="0" u="none" strike="noStrike" dirty="0">
                <a:solidFill>
                  <a:srgbClr val="000000"/>
                </a:solidFill>
                <a:effectLst/>
              </a:rPr>
              <a:t>了ㄊㄜˇ</a:t>
            </a:r>
            <a:r>
              <a:rPr lang="en-US" altLang="zh-TW" b="0" i="0" u="none" strike="noStrike" dirty="0" err="1">
                <a:solidFill>
                  <a:srgbClr val="000000"/>
                </a:solidFill>
                <a:effectLst/>
              </a:rPr>
              <a:t>ry</a:t>
            </a:r>
            <a:r>
              <a:rPr lang="en" altLang="zh-TW" b="0" i="0" u="none" strike="noStrike" dirty="0">
                <a:solidFill>
                  <a:srgbClr val="000000"/>
                </a:solidFill>
                <a:effectLst/>
              </a:rPr>
              <a:t>) requirements, the following documentation and testing must be completed. And </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because this device is an implantable device that incorporates electronic components such as a PVDF pressure sensor and a BLE module, it is </a:t>
            </a:r>
            <a:r>
              <a:rPr lang="en" altLang="zh-TW" b="0" i="0" u="none" strike="noStrike" dirty="0">
                <a:solidFill>
                  <a:srgbClr val="000000"/>
                </a:solidFill>
                <a:effectLst/>
                <a:latin typeface="-webkit-standard"/>
              </a:rPr>
              <a:t>classified as </a:t>
            </a:r>
            <a:r>
              <a:rPr lang="en" altLang="zh-TW" b="1" i="0" u="none" strike="noStrike" dirty="0">
                <a:solidFill>
                  <a:srgbClr val="000000"/>
                </a:solidFill>
                <a:effectLst/>
              </a:rPr>
              <a:t>Class III.</a:t>
            </a:r>
            <a:endParaRPr kumimoji="1" lang="zh-TW" altLang="en-US" dirty="0"/>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11</a:t>
            </a:fld>
            <a:endParaRPr kumimoji="1" lang="zh-TW" altLang="en-US"/>
          </a:p>
        </p:txBody>
      </p:sp>
    </p:spTree>
    <p:extLst>
      <p:ext uri="{BB962C8B-B14F-4D97-AF65-F5344CB8AC3E}">
        <p14:creationId xmlns:p14="http://schemas.microsoft.com/office/powerpoint/2010/main" val="1589104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en" altLang="zh-TW" sz="1200" i="0" u="none" strike="noStrike" dirty="0">
                <a:solidFill>
                  <a:srgbClr val="000000"/>
                </a:solidFill>
                <a:effectLst/>
                <a:latin typeface="Times New Roman" panose="02020603050405020304" pitchFamily="18" charset="0"/>
                <a:cs typeface="Times New Roman" panose="02020603050405020304" pitchFamily="18" charset="0"/>
              </a:rPr>
              <a:t>In conclusion, this Smart Double-Network Scaffold combines GelMA and HA for cartilage regeneration with PVDF for real-time pressure monitoring. It addresses both structural and diagnostic (</a:t>
            </a:r>
            <a:r>
              <a:rPr lang="zh-TW" altLang="en-US" sz="1200" i="0" u="none" strike="noStrike" dirty="0">
                <a:solidFill>
                  <a:srgbClr val="000000"/>
                </a:solidFill>
                <a:effectLst/>
                <a:latin typeface="Times New Roman" panose="02020603050405020304" pitchFamily="18" charset="0"/>
                <a:cs typeface="Times New Roman" panose="02020603050405020304" pitchFamily="18" charset="0"/>
              </a:rPr>
              <a:t>戴爾格納斯提克</a:t>
            </a:r>
            <a:r>
              <a:rPr lang="en" altLang="zh-TW" sz="1200" i="0" u="none" strike="noStrike" dirty="0">
                <a:solidFill>
                  <a:srgbClr val="000000"/>
                </a:solidFill>
                <a:effectLst/>
                <a:latin typeface="Times New Roman" panose="02020603050405020304" pitchFamily="18" charset="0"/>
                <a:cs typeface="Times New Roman" panose="02020603050405020304" pitchFamily="18" charset="0"/>
              </a:rPr>
              <a:t>) challenges in cartilage repair, providing valuable data to optimize patient outcomes.</a:t>
            </a:r>
            <a:endParaRPr kumimoji="1" lang="zh-TW" altLang="en-US" sz="12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12</a:t>
            </a:fld>
            <a:endParaRPr kumimoji="1" lang="zh-TW" altLang="en-US"/>
          </a:p>
        </p:txBody>
      </p:sp>
    </p:spTree>
    <p:extLst>
      <p:ext uri="{BB962C8B-B14F-4D97-AF65-F5344CB8AC3E}">
        <p14:creationId xmlns:p14="http://schemas.microsoft.com/office/powerpoint/2010/main" val="1272814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endParaRPr kumimoji="1" lang="zh-TW" altLang="en-US" sz="12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3D36D1B4-EE4A-8A47-9D3E-7AC4660422AB}" type="slidenum">
              <a:rPr kumimoji="1" lang="zh-TW" altLang="en-US" smtClean="0"/>
              <a:t>13</a:t>
            </a:fld>
            <a:endParaRPr kumimoji="1" lang="zh-TW" altLang="en-US"/>
          </a:p>
        </p:txBody>
      </p:sp>
    </p:spTree>
    <p:extLst>
      <p:ext uri="{BB962C8B-B14F-4D97-AF65-F5344CB8AC3E}">
        <p14:creationId xmlns:p14="http://schemas.microsoft.com/office/powerpoint/2010/main" val="865413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7" name="Date Placeholder 6"/>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9683606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66206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7" name="Date Placeholder 6"/>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35011801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8" name="Date Placeholder 7"/>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9" name="Footer Placeholder 8"/>
          <p:cNvSpPr>
            <a:spLocks noGrp="1"/>
          </p:cNvSpPr>
          <p:nvPr>
            <p:ph type="ftr" sz="quarter" idx="11"/>
          </p:nvPr>
        </p:nvSpPr>
        <p:spPr/>
        <p:txBody>
          <a:bodyPr/>
          <a:lstStyle/>
          <a:p>
            <a:endParaRPr lang="en-US">
              <a:solidFill>
                <a:srgbClr val="FFFFFF"/>
              </a:solidFill>
            </a:endParaRPr>
          </a:p>
        </p:txBody>
      </p:sp>
      <p:sp>
        <p:nvSpPr>
          <p:cNvPr id="10" name="Slide Number Placeholder 9"/>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653986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583436" y="3143250"/>
            <a:ext cx="4270248" cy="259677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7" name="Date Placeholder 6"/>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
        <p:nvSpPr>
          <p:cNvPr id="10" name="Title 9"/>
          <p:cNvSpPr>
            <a:spLocks noGrp="1"/>
          </p:cNvSpPr>
          <p:nvPr>
            <p:ph type="title"/>
          </p:nvPr>
        </p:nvSpPr>
        <p:spPr/>
        <p:txBody>
          <a:bodyPr/>
          <a:lstStyle/>
          <a:p>
            <a:r>
              <a:rPr lang="zh-TW" altLang="en-US"/>
              <a:t>按一下以編輯母片標題樣式</a:t>
            </a:r>
            <a:endParaRPr lang="en-US" dirty="0"/>
          </a:p>
        </p:txBody>
      </p:sp>
    </p:spTree>
    <p:extLst>
      <p:ext uri="{BB962C8B-B14F-4D97-AF65-F5344CB8AC3E}">
        <p14:creationId xmlns:p14="http://schemas.microsoft.com/office/powerpoint/2010/main" val="2331830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74507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3" name="Footer Placeholder 2"/>
          <p:cNvSpPr>
            <a:spLocks noGrp="1"/>
          </p:cNvSpPr>
          <p:nvPr>
            <p:ph type="ftr" sz="quarter" idx="11"/>
          </p:nvPr>
        </p:nvSpPr>
        <p:spPr/>
        <p:txBody>
          <a:bodyPr/>
          <a:lstStyle/>
          <a:p>
            <a:endParaRPr lang="en-US">
              <a:solidFill>
                <a:srgbClr val="FFFFFF"/>
              </a:solidFill>
            </a:endParaRPr>
          </a:p>
        </p:txBody>
      </p:sp>
      <p:sp>
        <p:nvSpPr>
          <p:cNvPr id="4" name="Slide Number Placeholder 3"/>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4010135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9" name="Date Placeholder 8"/>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solidFill>
                <a:srgbClr val="FFFFFF"/>
              </a:solidFill>
            </a:endParaRPr>
          </a:p>
        </p:txBody>
      </p:sp>
      <p:sp>
        <p:nvSpPr>
          <p:cNvPr id="11" name="Slide Number Placeholder 10"/>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784036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A70F276-1833-4A75-9C1D-A56E2295A68D}" type="datetimeFigureOut">
              <a:rPr lang="en-US" smtClean="0"/>
              <a:pPr/>
              <a:t>11/30/24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solidFill>
                <a:srgbClr val="FFFFFF"/>
              </a:solidFill>
            </a:endParaRPr>
          </a:p>
        </p:txBody>
      </p:sp>
      <p:sp>
        <p:nvSpPr>
          <p:cNvPr id="10" name="Slide Number Placeholder 9"/>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424051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6196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pPr/>
              <a:t>11/30/24</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46663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A70F276-1833-4A75-9C1D-A56E2295A68D}" type="datetimeFigureOut">
              <a:rPr lang="en-US" smtClean="0"/>
              <a:pPr/>
              <a:t>11/30/24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solidFill>
                <a:srgbClr val="FFFFFF"/>
              </a:solidFill>
            </a:endParaRP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605981643"/>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字方塊 4">
            <a:extLst>
              <a:ext uri="{FF2B5EF4-FFF2-40B4-BE49-F238E27FC236}">
                <a16:creationId xmlns:a16="http://schemas.microsoft.com/office/drawing/2014/main" id="{4E5C05EF-B4B2-730A-E566-74F7393D49B8}"/>
              </a:ext>
            </a:extLst>
          </p:cNvPr>
          <p:cNvSpPr txBox="1"/>
          <p:nvPr/>
        </p:nvSpPr>
        <p:spPr>
          <a:xfrm>
            <a:off x="1260873" y="1586484"/>
            <a:ext cx="3685032" cy="3685032"/>
          </a:xfrm>
          <a:prstGeom prst="ellipse">
            <a:avLst/>
          </a:prstGeom>
          <a:solidFill>
            <a:schemeClr val="accent2">
              <a:lumMod val="75000"/>
            </a:schemeClr>
          </a:solidFill>
          <a:ln>
            <a:noFill/>
          </a:ln>
        </p:spPr>
        <p:txBody>
          <a:bodyPr vert="horz" lIns="182880" tIns="182880" rIns="182880" bIns="182880" rtlCol="0" anchor="ctr">
            <a:normAutofit/>
          </a:bodyPr>
          <a:lstStyle/>
          <a:p>
            <a:pPr algn="ctr" defTabSz="914400">
              <a:lnSpc>
                <a:spcPct val="90000"/>
              </a:lnSpc>
              <a:spcBef>
                <a:spcPct val="0"/>
              </a:spcBef>
              <a:spcAft>
                <a:spcPts val="600"/>
              </a:spcAft>
            </a:pPr>
            <a:r>
              <a:rPr lang="en-US" altLang="zh-TW" sz="1900" kern="1200" cap="all" spc="200" baseline="0" dirty="0">
                <a:solidFill>
                  <a:srgbClr val="FFFFFF"/>
                </a:solidFill>
                <a:latin typeface="+mj-lt"/>
                <a:ea typeface="+mj-ea"/>
                <a:cs typeface="+mj-cs"/>
              </a:rPr>
              <a:t>Presentation 2</a:t>
            </a:r>
          </a:p>
        </p:txBody>
      </p:sp>
      <p:sp>
        <p:nvSpPr>
          <p:cNvPr id="12" name="文字方塊 11">
            <a:extLst>
              <a:ext uri="{FF2B5EF4-FFF2-40B4-BE49-F238E27FC236}">
                <a16:creationId xmlns:a16="http://schemas.microsoft.com/office/drawing/2014/main" id="{FE496135-CDF3-AC8B-BF01-A7419759184D}"/>
              </a:ext>
            </a:extLst>
          </p:cNvPr>
          <p:cNvSpPr txBox="1"/>
          <p:nvPr/>
        </p:nvSpPr>
        <p:spPr>
          <a:xfrm>
            <a:off x="8974975" y="4191000"/>
            <a:ext cx="5320696" cy="4053840"/>
          </a:xfrm>
          <a:prstGeom prst="rect">
            <a:avLst/>
          </a:prstGeom>
        </p:spPr>
        <p:txBody>
          <a:bodyPr vert="horz" lIns="91440" tIns="45720" rIns="91440" bIns="45720" rtlCol="0" anchor="ctr">
            <a:normAutofit/>
          </a:bodyPr>
          <a:lstStyle/>
          <a:p>
            <a:pPr defTabSz="914400">
              <a:spcBef>
                <a:spcPts val="1000"/>
              </a:spcBef>
              <a:buClr>
                <a:schemeClr val="accent2"/>
              </a:buClr>
            </a:pPr>
            <a:r>
              <a:rPr kumimoji="1" lang="en-US" altLang="zh-TW" dirty="0" err="1">
                <a:solidFill>
                  <a:schemeClr val="tx1">
                    <a:lumMod val="85000"/>
                    <a:lumOff val="15000"/>
                  </a:schemeClr>
                </a:solidFill>
                <a:latin typeface="Times New Roman" panose="02020603050405020304" pitchFamily="18" charset="0"/>
                <a:cs typeface="Times New Roman" panose="02020603050405020304" pitchFamily="18" charset="0"/>
              </a:rPr>
              <a:t>TsaiTung</a:t>
            </a:r>
            <a:r>
              <a:rPr kumimoji="1" lang="en-US" altLang="zh-TW" dirty="0">
                <a:solidFill>
                  <a:schemeClr val="tx1">
                    <a:lumMod val="85000"/>
                    <a:lumOff val="15000"/>
                  </a:schemeClr>
                </a:solidFill>
                <a:latin typeface="Times New Roman" panose="02020603050405020304" pitchFamily="18" charset="0"/>
                <a:cs typeface="Times New Roman" panose="02020603050405020304" pitchFamily="18" charset="0"/>
              </a:rPr>
              <a:t> (Samantha) Chiang </a:t>
            </a:r>
          </a:p>
          <a:p>
            <a:pPr defTabSz="914400">
              <a:spcBef>
                <a:spcPts val="1000"/>
              </a:spcBef>
              <a:buClr>
                <a:schemeClr val="accent2"/>
              </a:buClr>
            </a:pPr>
            <a:r>
              <a:rPr kumimoji="1" lang="en-US" altLang="zh-TW" dirty="0">
                <a:solidFill>
                  <a:schemeClr val="tx1">
                    <a:lumMod val="85000"/>
                    <a:lumOff val="15000"/>
                  </a:schemeClr>
                </a:solidFill>
                <a:latin typeface="Times New Roman" panose="02020603050405020304" pitchFamily="18" charset="0"/>
                <a:cs typeface="Times New Roman" panose="02020603050405020304" pitchFamily="18" charset="0"/>
              </a:rPr>
              <a:t>2</a:t>
            </a:r>
            <a:r>
              <a:rPr kumimoji="1" lang="en-US" altLang="zh-TW" baseline="30000" dirty="0">
                <a:solidFill>
                  <a:schemeClr val="tx1">
                    <a:lumMod val="85000"/>
                    <a:lumOff val="15000"/>
                  </a:schemeClr>
                </a:solidFill>
                <a:latin typeface="Times New Roman" panose="02020603050405020304" pitchFamily="18" charset="0"/>
                <a:cs typeface="Times New Roman" panose="02020603050405020304" pitchFamily="18" charset="0"/>
              </a:rPr>
              <a:t>nd</a:t>
            </a:r>
            <a:r>
              <a:rPr kumimoji="1" lang="en-US" altLang="zh-TW" dirty="0">
                <a:solidFill>
                  <a:schemeClr val="tx1">
                    <a:lumMod val="85000"/>
                    <a:lumOff val="15000"/>
                  </a:schemeClr>
                </a:solidFill>
                <a:latin typeface="Times New Roman" panose="02020603050405020304" pitchFamily="18" charset="0"/>
                <a:cs typeface="Times New Roman" panose="02020603050405020304" pitchFamily="18" charset="0"/>
              </a:rPr>
              <a:t> Dec. 2024</a:t>
            </a:r>
          </a:p>
        </p:txBody>
      </p:sp>
      <p:sp>
        <p:nvSpPr>
          <p:cNvPr id="14" name="文字方塊 13">
            <a:extLst>
              <a:ext uri="{FF2B5EF4-FFF2-40B4-BE49-F238E27FC236}">
                <a16:creationId xmlns:a16="http://schemas.microsoft.com/office/drawing/2014/main" id="{77200CB1-8850-A23C-0632-C7C8CBFFA59F}"/>
              </a:ext>
            </a:extLst>
          </p:cNvPr>
          <p:cNvSpPr txBox="1"/>
          <p:nvPr/>
        </p:nvSpPr>
        <p:spPr>
          <a:xfrm>
            <a:off x="5232805" y="2644170"/>
            <a:ext cx="6486353" cy="1569660"/>
          </a:xfrm>
          <a:prstGeom prst="rect">
            <a:avLst/>
          </a:prstGeom>
          <a:noFill/>
        </p:spPr>
        <p:txBody>
          <a:bodyPr wrap="square" rtlCol="0">
            <a:spAutoFit/>
          </a:bodyPr>
          <a:lstStyle/>
          <a:p>
            <a:r>
              <a:rPr kumimoji="1" lang="en-US" altLang="zh-TW" sz="3200" dirty="0">
                <a:latin typeface="Times New Roman" panose="02020603050405020304" pitchFamily="18" charset="0"/>
                <a:cs typeface="Times New Roman" panose="02020603050405020304" pitchFamily="18" charset="0"/>
              </a:rPr>
              <a:t>Smart Double-network GelMA + HA scaffold with embedded PVDF sensor for cartilage regeneration</a:t>
            </a:r>
            <a:endParaRPr kumimoji="1"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99526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文字方塊 5">
            <a:extLst>
              <a:ext uri="{FF2B5EF4-FFF2-40B4-BE49-F238E27FC236}">
                <a16:creationId xmlns:a16="http://schemas.microsoft.com/office/drawing/2014/main" id="{AEFBC480-F534-4F35-AB7B-A5EF8F7B0182}"/>
              </a:ext>
            </a:extLst>
          </p:cNvPr>
          <p:cNvSpPr txBox="1"/>
          <p:nvPr/>
        </p:nvSpPr>
        <p:spPr>
          <a:xfrm>
            <a:off x="643467" y="2681103"/>
            <a:ext cx="3363974" cy="1495794"/>
          </a:xfrm>
          <a:prstGeom prst="rect">
            <a:avLst/>
          </a:prstGeom>
          <a:noFill/>
          <a:ln>
            <a:solidFill>
              <a:schemeClr val="bg1"/>
            </a:solidFill>
          </a:ln>
        </p:spPr>
        <p:txBody>
          <a:bodyPr vert="horz" wrap="square" lIns="182880" tIns="182880" rIns="182880" bIns="182880" rtlCol="0" anchor="ctr">
            <a:normAutofit/>
          </a:bodyPr>
          <a:lstStyle/>
          <a:p>
            <a:pPr algn="ctr" defTabSz="914400">
              <a:lnSpc>
                <a:spcPct val="90000"/>
              </a:lnSpc>
              <a:spcBef>
                <a:spcPct val="0"/>
              </a:spcBef>
              <a:spcAft>
                <a:spcPts val="600"/>
              </a:spcAft>
            </a:pPr>
            <a:r>
              <a:rPr kumimoji="1" lang="en-US" altLang="zh-TW" sz="2800" cap="all" spc="200">
                <a:solidFill>
                  <a:schemeClr val="bg1"/>
                </a:solidFill>
                <a:latin typeface="+mj-lt"/>
                <a:ea typeface="+mj-ea"/>
                <a:cs typeface="+mj-cs"/>
              </a:rPr>
              <a:t>Outline</a:t>
            </a:r>
          </a:p>
        </p:txBody>
      </p:sp>
      <p:graphicFrame>
        <p:nvGraphicFramePr>
          <p:cNvPr id="10" name="文字方塊 7">
            <a:extLst>
              <a:ext uri="{FF2B5EF4-FFF2-40B4-BE49-F238E27FC236}">
                <a16:creationId xmlns:a16="http://schemas.microsoft.com/office/drawing/2014/main" id="{7D90C7C5-0DBF-C2D9-9ADB-61B82346CA29}"/>
              </a:ext>
            </a:extLst>
          </p:cNvPr>
          <p:cNvGraphicFramePr/>
          <p:nvPr>
            <p:extLst>
              <p:ext uri="{D42A27DB-BD31-4B8C-83A1-F6EECF244321}">
                <p14:modId xmlns:p14="http://schemas.microsoft.com/office/powerpoint/2010/main" val="3601914726"/>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287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3F90C5C-0937-6FB9-5A71-963EB36C0B6C}"/>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9D14BD61-030F-94E1-49FE-9F1751F613A0}"/>
              </a:ext>
            </a:extLst>
          </p:cNvPr>
          <p:cNvSpPr txBox="1"/>
          <p:nvPr/>
        </p:nvSpPr>
        <p:spPr>
          <a:xfrm>
            <a:off x="3404874" y="257908"/>
            <a:ext cx="5391219" cy="646331"/>
          </a:xfrm>
          <a:prstGeom prst="rect">
            <a:avLst/>
          </a:prstGeom>
          <a:noFill/>
        </p:spPr>
        <p:txBody>
          <a:bodyPr wrap="none" rtlCol="0">
            <a:spAutoFit/>
          </a:bodyPr>
          <a:lstStyle/>
          <a:p>
            <a:r>
              <a:rPr kumimoji="1" lang="en-US" altLang="zh-TW" sz="3600" dirty="0">
                <a:latin typeface="Times New Roman" panose="02020603050405020304" pitchFamily="18" charset="0"/>
                <a:cs typeface="Times New Roman" panose="02020603050405020304" pitchFamily="18" charset="0"/>
              </a:rPr>
              <a:t>Background and Motivation</a:t>
            </a:r>
            <a:endParaRPr kumimoji="1" lang="zh-TW" altLang="en-US" sz="36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BDEA6DB5-05F7-98D5-E3A7-A3CB49EED771}"/>
              </a:ext>
            </a:extLst>
          </p:cNvPr>
          <p:cNvSpPr txBox="1"/>
          <p:nvPr/>
        </p:nvSpPr>
        <p:spPr>
          <a:xfrm>
            <a:off x="0" y="2245069"/>
            <a:ext cx="12192000" cy="3785652"/>
          </a:xfrm>
          <a:prstGeom prst="rect">
            <a:avLst/>
          </a:prstGeom>
          <a:noFill/>
        </p:spPr>
        <p:txBody>
          <a:bodyPr wrap="square" rtlCol="0">
            <a:spAutoFit/>
          </a:bodyPr>
          <a:lstStyle/>
          <a:p>
            <a:pPr marL="342900" indent="-342900">
              <a:buSzPct val="45000"/>
              <a:buFont typeface="Wingdings" pitchFamily="2" charset="2"/>
              <a:buChar char="l"/>
            </a:pPr>
            <a:r>
              <a:rPr lang="en" altLang="zh-TW" sz="2400" dirty="0">
                <a:latin typeface="Times New Roman" panose="02020603050405020304" pitchFamily="18" charset="0"/>
                <a:ea typeface="新細明體" panose="02020500000000000000" pitchFamily="18" charset="-120"/>
                <a:cs typeface="Times New Roman" panose="02020603050405020304" pitchFamily="18" charset="0"/>
              </a:rPr>
              <a:t>Patients need to maintain proper movement mechanics and moderate knee usage post-surgery to prevent re-injury.</a:t>
            </a: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marL="342900" indent="-342900">
              <a:buSzPct val="45000"/>
              <a:buFont typeface="Wingdings" pitchFamily="2" charset="2"/>
              <a:buChar char="l"/>
            </a:pPr>
            <a:endParaRPr lang="en-US" altLang="zh-TW" sz="24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342900" indent="-342900">
              <a:buSzPct val="45000"/>
              <a:buFont typeface="Wingdings" pitchFamily="2" charset="2"/>
              <a:buChar char="l"/>
            </a:pPr>
            <a:r>
              <a:rPr lang="en-US" altLang="zh-TW" sz="2400" dirty="0">
                <a:effectLst/>
                <a:latin typeface="Times New Roman" panose="02020603050405020304" pitchFamily="18" charset="0"/>
                <a:ea typeface="新細明體" panose="02020500000000000000" pitchFamily="18" charset="-120"/>
                <a:cs typeface="Times New Roman" panose="02020603050405020304" pitchFamily="18" charset="0"/>
              </a:rPr>
              <a:t>Current cartilage regeneration scaffolds primarily provide structural support and bioactive environments but lack real-time monitoring capabilities, making it difficult to track </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mechanical stress and regeneration progress after surgery. </a:t>
            </a:r>
          </a:p>
          <a:p>
            <a:pPr marL="342900" indent="-342900">
              <a:buSzPct val="45000"/>
              <a:buFont typeface="Wingdings" pitchFamily="2" charset="2"/>
              <a:buChar char="l"/>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marL="342900" indent="-342900">
              <a:buSzPct val="45000"/>
              <a:buFont typeface="Wingdings" pitchFamily="2" charset="2"/>
              <a:buChar char="l"/>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To address these limitations, this project proposes a novel </a:t>
            </a:r>
            <a:r>
              <a:rPr lang="en" altLang="zh-TW" sz="2400" dirty="0">
                <a:latin typeface="Times New Roman" panose="02020603050405020304" pitchFamily="18" charset="0"/>
                <a:ea typeface="新細明體" panose="02020500000000000000" pitchFamily="18" charset="-120"/>
                <a:cs typeface="Times New Roman" panose="02020603050405020304" pitchFamily="18" charset="0"/>
              </a:rPr>
              <a:t> double-network scaffold combining GelMA and HA </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with an embedded Polyvinylidene Fluoride (PVDF) pressure sensor. </a:t>
            </a:r>
          </a:p>
          <a:p>
            <a:endParaRPr kumimoji="1"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209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AC58C03-E2E8-1552-8BBE-F204D8B675BA}"/>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2" name="文字方塊 1">
            <a:extLst>
              <a:ext uri="{FF2B5EF4-FFF2-40B4-BE49-F238E27FC236}">
                <a16:creationId xmlns:a16="http://schemas.microsoft.com/office/drawing/2014/main" id="{21E5A787-CFF7-2150-7674-604FE19305A5}"/>
              </a:ext>
            </a:extLst>
          </p:cNvPr>
          <p:cNvSpPr txBox="1"/>
          <p:nvPr/>
        </p:nvSpPr>
        <p:spPr>
          <a:xfrm>
            <a:off x="5593296" y="339774"/>
            <a:ext cx="1005403" cy="646331"/>
          </a:xfrm>
          <a:prstGeom prst="rect">
            <a:avLst/>
          </a:prstGeom>
          <a:noFill/>
        </p:spPr>
        <p:txBody>
          <a:bodyPr wrap="none" rtlCol="0">
            <a:spAutoFit/>
          </a:bodyPr>
          <a:lstStyle/>
          <a:p>
            <a:r>
              <a:rPr kumimoji="1" lang="en-US" altLang="zh-TW" sz="3600" dirty="0">
                <a:latin typeface="Times New Roman" panose="02020603050405020304" pitchFamily="18" charset="0"/>
                <a:cs typeface="Times New Roman" panose="02020603050405020304" pitchFamily="18" charset="0"/>
              </a:rPr>
              <a:t>Aim</a:t>
            </a:r>
            <a:endParaRPr kumimoji="1" lang="zh-TW" altLang="en-US" sz="36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846B0435-435E-9DAE-5256-02727CB9654B}"/>
              </a:ext>
            </a:extLst>
          </p:cNvPr>
          <p:cNvSpPr txBox="1"/>
          <p:nvPr/>
        </p:nvSpPr>
        <p:spPr>
          <a:xfrm>
            <a:off x="254883" y="2736502"/>
            <a:ext cx="11682230" cy="1384995"/>
          </a:xfrm>
          <a:prstGeom prst="rect">
            <a:avLst/>
          </a:prstGeom>
          <a:noFill/>
        </p:spPr>
        <p:txBody>
          <a:bodyPr wrap="square">
            <a:spAutoFit/>
          </a:bodyPr>
          <a:lstStyle/>
          <a:p>
            <a:r>
              <a:rPr lang="en" altLang="zh-TW" sz="2800" b="0" i="0" u="none" strike="noStrike" dirty="0">
                <a:solidFill>
                  <a:srgbClr val="000000"/>
                </a:solidFill>
                <a:effectLst/>
                <a:latin typeface="Times New Roman" panose="02020603050405020304" pitchFamily="18" charset="0"/>
                <a:cs typeface="Times New Roman" panose="02020603050405020304" pitchFamily="18" charset="0"/>
              </a:rPr>
              <a:t>To design a regenerative GelMA-HA scaffold that repairs damaged cartilage and dynamically monitors mechanical stress and recovery progress by integrating a PVDF pressure sensor and a BLE module for real-time data transmission.</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894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6000"/>
          </a:schemeClr>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16956F1D-2DA9-41A2-9FA0-00B4991523C1}"/>
              </a:ext>
            </a:extLst>
          </p:cNvPr>
          <p:cNvSpPr txBox="1"/>
          <p:nvPr/>
        </p:nvSpPr>
        <p:spPr>
          <a:xfrm>
            <a:off x="225878" y="1480021"/>
            <a:ext cx="11740243" cy="5355312"/>
          </a:xfrm>
          <a:prstGeom prst="rect">
            <a:avLst/>
          </a:prstGeom>
          <a:noFill/>
        </p:spPr>
        <p:txBody>
          <a:bodyPr wrap="square">
            <a:spAutoFit/>
          </a:bodyPr>
          <a:lstStyle/>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1. GelMA (Gelatin Methacrylate) </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GelMA is a </a:t>
            </a:r>
            <a:r>
              <a:rPr lang="en" altLang="zh-TW" i="0" u="none" strike="noStrike" dirty="0" err="1">
                <a:solidFill>
                  <a:srgbClr val="000000"/>
                </a:solidFill>
                <a:effectLst/>
                <a:latin typeface="Times New Roman" panose="02020603050405020304" pitchFamily="18" charset="0"/>
                <a:cs typeface="Times New Roman" panose="02020603050405020304" pitchFamily="18" charset="0"/>
              </a:rPr>
              <a:t>photocrosslinkable</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 hydrogel that closely mimics the extracellular matrix (ECM), supporting cell adhesion, proliferation, and extracellular matrix production.</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Its tunable mechanical properties allow the scaffold's stiffness to be adjusted, matching the elasticity needed for cartilage regeneration.</a:t>
            </a:r>
          </a:p>
          <a:p>
            <a:pPr marL="742950" lvl="1" indent="-285750" algn="l">
              <a:buFont typeface="Arial" panose="020B0604020202020204" pitchFamily="34" charset="0"/>
              <a:buChar char="•"/>
            </a:pPr>
            <a:r>
              <a:rPr lang="en" altLang="zh-TW" i="0" u="none" strike="noStrike" dirty="0" err="1">
                <a:solidFill>
                  <a:srgbClr val="000000"/>
                </a:solidFill>
                <a:effectLst/>
                <a:latin typeface="Times New Roman" panose="02020603050405020304" pitchFamily="18" charset="0"/>
                <a:cs typeface="Times New Roman" panose="02020603050405020304" pitchFamily="18" charset="0"/>
              </a:rPr>
              <a:t>GelMA’s</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 compatibility with 3D printing makes it ideal for producing patient-specific scaffold structures.</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Its biocompatibility ensures a safe environment for cellular activities and long-term integration with host tissue.</a:t>
            </a:r>
          </a:p>
          <a:p>
            <a:pPr lvl="1" algn="l"/>
            <a:endParaRPr lang="en" altLang="zh-TW"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2. HA (Hyaluronic Acid) </a:t>
            </a:r>
            <a:endParaRPr lang="en" altLang="zh-TW" b="1" i="1" dirty="0">
              <a:solidFill>
                <a:srgbClr val="00000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HA is a hydrophilic polysaccharide naturally present in cartilage, playing a vital role in lubrication and bioactivity.</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It stimulates extracellular matrix production and enhances the scaffold’s biological functionality.</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HA complements </a:t>
            </a:r>
            <a:r>
              <a:rPr lang="en" altLang="zh-TW" i="0" u="none" strike="noStrike" dirty="0" err="1">
                <a:solidFill>
                  <a:srgbClr val="000000"/>
                </a:solidFill>
                <a:effectLst/>
                <a:latin typeface="Times New Roman" panose="02020603050405020304" pitchFamily="18" charset="0"/>
                <a:cs typeface="Times New Roman" panose="02020603050405020304" pitchFamily="18" charset="0"/>
              </a:rPr>
              <a:t>GelMA’s</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 structural properties by improving flexibility and mimicking the lubricative function of natural cartilage.</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It also promotes better integration between the scaffold and the surrounding tissue.</a:t>
            </a:r>
          </a:p>
          <a:p>
            <a:pPr algn="l"/>
            <a:endParaRPr lang="en" altLang="zh-TW" b="1" dirty="0">
              <a:solidFill>
                <a:srgbClr val="000000"/>
              </a:solidFill>
              <a:latin typeface="Times New Roman" panose="02020603050405020304" pitchFamily="18" charset="0"/>
              <a:cs typeface="Times New Roman" panose="02020603050405020304" pitchFamily="18" charset="0"/>
            </a:endParaRPr>
          </a:p>
          <a:p>
            <a:pPr algn="l"/>
            <a:r>
              <a:rPr lang="en" altLang="zh-TW" b="1" dirty="0">
                <a:solidFill>
                  <a:srgbClr val="000000"/>
                </a:solidFill>
                <a:latin typeface="Times New Roman" panose="02020603050405020304" pitchFamily="18" charset="0"/>
                <a:cs typeface="Times New Roman" panose="02020603050405020304" pitchFamily="18" charset="0"/>
              </a:rPr>
              <a:t>3</a:t>
            </a:r>
            <a:r>
              <a:rPr lang="en" altLang="zh-TW" dirty="0">
                <a:solidFill>
                  <a:srgbClr val="000000"/>
                </a:solidFill>
                <a:latin typeface="Times New Roman" panose="02020603050405020304" pitchFamily="18" charset="0"/>
                <a:cs typeface="Times New Roman" panose="02020603050405020304" pitchFamily="18" charset="0"/>
              </a:rPr>
              <a:t>. </a:t>
            </a:r>
            <a:r>
              <a:rPr lang="en" altLang="zh-TW" b="1" dirty="0">
                <a:solidFill>
                  <a:srgbClr val="000000"/>
                </a:solidFill>
                <a:latin typeface="Times New Roman" panose="02020603050405020304" pitchFamily="18" charset="0"/>
                <a:cs typeface="Times New Roman" panose="02020603050405020304" pitchFamily="18" charset="0"/>
              </a:rPr>
              <a:t>Nanoparticles (Silica):</a:t>
            </a:r>
          </a:p>
          <a:p>
            <a:pPr marL="742950" lvl="1" indent="-285750" algn="l">
              <a:buFont typeface="Arial" panose="020B0604020202020204" pitchFamily="34" charset="0"/>
              <a:buChar char="•"/>
            </a:pPr>
            <a:r>
              <a:rPr lang="en" altLang="zh-TW" dirty="0">
                <a:solidFill>
                  <a:srgbClr val="000000"/>
                </a:solidFill>
                <a:latin typeface="Times New Roman" panose="02020603050405020304" pitchFamily="18" charset="0"/>
                <a:cs typeface="Times New Roman" panose="02020603050405020304" pitchFamily="18" charset="0"/>
              </a:rPr>
              <a:t>Improves mechanical strength and porosity, addressing </a:t>
            </a:r>
            <a:r>
              <a:rPr lang="en" altLang="zh-TW" dirty="0" err="1">
                <a:solidFill>
                  <a:srgbClr val="000000"/>
                </a:solidFill>
                <a:latin typeface="Times New Roman" panose="02020603050405020304" pitchFamily="18" charset="0"/>
                <a:cs typeface="Times New Roman" panose="02020603050405020304" pitchFamily="18" charset="0"/>
              </a:rPr>
              <a:t>GelMA's</a:t>
            </a:r>
            <a:r>
              <a:rPr lang="en" altLang="zh-TW" dirty="0">
                <a:solidFill>
                  <a:srgbClr val="000000"/>
                </a:solidFill>
                <a:latin typeface="Times New Roman" panose="02020603050405020304" pitchFamily="18" charset="0"/>
                <a:cs typeface="Times New Roman" panose="02020603050405020304" pitchFamily="18" charset="0"/>
              </a:rPr>
              <a:t> inherent softness.</a:t>
            </a:r>
          </a:p>
          <a:p>
            <a:pPr marL="742950" lvl="1" indent="-285750" algn="l">
              <a:buFont typeface="Arial" panose="020B0604020202020204" pitchFamily="34" charset="0"/>
              <a:buChar char="•"/>
            </a:pPr>
            <a:r>
              <a:rPr lang="en" altLang="zh-TW" dirty="0">
                <a:solidFill>
                  <a:srgbClr val="000000"/>
                </a:solidFill>
                <a:latin typeface="Times New Roman" panose="02020603050405020304" pitchFamily="18" charset="0"/>
                <a:cs typeface="Times New Roman" panose="02020603050405020304" pitchFamily="18" charset="0"/>
              </a:rPr>
              <a:t>Enhances nutrient transport and cell migration within the scaffold.</a:t>
            </a:r>
          </a:p>
          <a:p>
            <a:pPr algn="l"/>
            <a:endParaRPr lang="en" altLang="zh-TW"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40BE9A5A-5A56-C186-5443-6F7A5CFEF4A0}"/>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4" name="文字方塊 3">
            <a:extLst>
              <a:ext uri="{FF2B5EF4-FFF2-40B4-BE49-F238E27FC236}">
                <a16:creationId xmlns:a16="http://schemas.microsoft.com/office/drawing/2014/main" id="{196EFADD-1F77-8404-569D-B551CE9E8494}"/>
              </a:ext>
            </a:extLst>
          </p:cNvPr>
          <p:cNvSpPr txBox="1"/>
          <p:nvPr/>
        </p:nvSpPr>
        <p:spPr>
          <a:xfrm>
            <a:off x="3497889" y="339774"/>
            <a:ext cx="4788490" cy="646331"/>
          </a:xfrm>
          <a:prstGeom prst="rect">
            <a:avLst/>
          </a:prstGeom>
          <a:noFill/>
        </p:spPr>
        <p:txBody>
          <a:bodyPr wrap="none" rtlCol="0">
            <a:spAutoFit/>
          </a:bodyPr>
          <a:lstStyle/>
          <a:p>
            <a:r>
              <a:rPr kumimoji="1" lang="en-US" altLang="zh-TW" sz="3600" dirty="0">
                <a:latin typeface="Times New Roman" panose="02020603050405020304" pitchFamily="18" charset="0"/>
                <a:cs typeface="Times New Roman" panose="02020603050405020304" pitchFamily="18" charset="0"/>
              </a:rPr>
              <a:t>Materials - </a:t>
            </a:r>
            <a:r>
              <a:rPr kumimoji="1" lang="en" altLang="zh-TW" sz="3600" dirty="0">
                <a:latin typeface="Times New Roman" panose="02020603050405020304" pitchFamily="18" charset="0"/>
                <a:cs typeface="Times New Roman" panose="02020603050405020304" pitchFamily="18" charset="0"/>
              </a:rPr>
              <a:t>Biomaterials </a:t>
            </a:r>
          </a:p>
        </p:txBody>
      </p:sp>
    </p:spTree>
    <p:extLst>
      <p:ext uri="{BB962C8B-B14F-4D97-AF65-F5344CB8AC3E}">
        <p14:creationId xmlns:p14="http://schemas.microsoft.com/office/powerpoint/2010/main" val="3228232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4C300F6-D0BF-66E2-126E-DE75E2C342F5}"/>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文字方塊 1">
            <a:extLst>
              <a:ext uri="{FF2B5EF4-FFF2-40B4-BE49-F238E27FC236}">
                <a16:creationId xmlns:a16="http://schemas.microsoft.com/office/drawing/2014/main" id="{3E2D2B0D-14CA-60E7-2138-871911CF2471}"/>
              </a:ext>
            </a:extLst>
          </p:cNvPr>
          <p:cNvSpPr txBox="1"/>
          <p:nvPr/>
        </p:nvSpPr>
        <p:spPr>
          <a:xfrm>
            <a:off x="173831" y="1325880"/>
            <a:ext cx="11844337" cy="3693319"/>
          </a:xfrm>
          <a:prstGeom prst="rect">
            <a:avLst/>
          </a:prstGeom>
          <a:noFill/>
        </p:spPr>
        <p:txBody>
          <a:bodyPr wrap="square" rtlCol="0">
            <a:spAutoFit/>
          </a:bodyPr>
          <a:lstStyle/>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1. PVDF (Polyvinylidene Fluoride)</a:t>
            </a:r>
          </a:p>
          <a:p>
            <a:pPr marL="742950" lvl="1" indent="-285750" algn="l">
              <a:buFont typeface="Arial" panose="020B0604020202020204" pitchFamily="34" charset="0"/>
              <a:buChar char="•"/>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PVDF is a piezoelectric polymer capable of generating electrical signals under mechanical stress, enabling real-time pressure monitoring.</a:t>
            </a:r>
          </a:p>
          <a:p>
            <a:pPr marL="742950" lvl="1" indent="-285750" algn="l">
              <a:buFont typeface="Arial" panose="020B0604020202020204" pitchFamily="34" charset="0"/>
              <a:buChar char="•"/>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It has high stability and flexibility, suitable for detecting dynamic joint activities within a frequency range of 1–10 Hz.</a:t>
            </a:r>
          </a:p>
          <a:p>
            <a:pPr marL="742950" lvl="1" indent="-285750" algn="l">
              <a:buFont typeface="Arial" panose="020B0604020202020204" pitchFamily="34" charset="0"/>
              <a:buChar char="•"/>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PVDF provides the unique ability to monitor pressure changes during rehabilitation, bridging the scaffold's regenerative function with intelligent diagnostics.</a:t>
            </a:r>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 </a:t>
            </a:r>
          </a:p>
          <a:p>
            <a:pPr algn="l"/>
            <a:endParaRPr lang="en" altLang="zh-TW" b="1"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2. PDMS (Polydimethylsiloxane) </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PDMS is a chemically inert, biocompatible material that provides excellent mechanical stability and flexibility.</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Its hydrophobic nature requires surface modification, such as O</a:t>
            </a:r>
            <a:r>
              <a:rPr lang="en" altLang="zh-TW" i="0" u="none" strike="noStrike" baseline="-25000" dirty="0">
                <a:solidFill>
                  <a:srgbClr val="000000"/>
                </a:solidFill>
                <a:effectLst/>
                <a:latin typeface="Times New Roman" panose="02020603050405020304" pitchFamily="18" charset="0"/>
                <a:cs typeface="Times New Roman" panose="02020603050405020304" pitchFamily="18" charset="0"/>
              </a:rPr>
              <a:t>2</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 plasma treatment, to bond with hydrophilic layers like GelMA.</a:t>
            </a:r>
          </a:p>
          <a:p>
            <a:pPr marL="742950" lvl="1" indent="-285750" algn="l">
              <a:buFont typeface="Arial" panose="020B0604020202020204" pitchFamily="34" charset="0"/>
              <a:buChar char="•"/>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PDMS encapsulates electronic components, such as the PVDF sensor, protecting them from the biological environment while maintaining biocompatibility.</a:t>
            </a:r>
          </a:p>
        </p:txBody>
      </p:sp>
      <p:sp>
        <p:nvSpPr>
          <p:cNvPr id="3" name="文字方塊 2">
            <a:extLst>
              <a:ext uri="{FF2B5EF4-FFF2-40B4-BE49-F238E27FC236}">
                <a16:creationId xmlns:a16="http://schemas.microsoft.com/office/drawing/2014/main" id="{39BC4650-82E2-C101-1CC0-16B288B79DF5}"/>
              </a:ext>
            </a:extLst>
          </p:cNvPr>
          <p:cNvSpPr txBox="1"/>
          <p:nvPr/>
        </p:nvSpPr>
        <p:spPr>
          <a:xfrm>
            <a:off x="2990020" y="306408"/>
            <a:ext cx="6211958" cy="646331"/>
          </a:xfrm>
          <a:prstGeom prst="rect">
            <a:avLst/>
          </a:prstGeom>
          <a:noFill/>
        </p:spPr>
        <p:txBody>
          <a:bodyPr wrap="none" rtlCol="0">
            <a:spAutoFit/>
          </a:bodyPr>
          <a:lstStyle/>
          <a:p>
            <a:pPr algn="ctr"/>
            <a:r>
              <a:rPr kumimoji="1" lang="en-US" altLang="zh-TW" sz="3600" dirty="0">
                <a:latin typeface="Times New Roman" panose="02020603050405020304" pitchFamily="18" charset="0"/>
                <a:cs typeface="Times New Roman" panose="02020603050405020304" pitchFamily="18" charset="0"/>
              </a:rPr>
              <a:t>Materials - </a:t>
            </a:r>
            <a:r>
              <a:rPr kumimoji="1" lang="en" altLang="zh-TW" sz="3600" dirty="0">
                <a:latin typeface="Times New Roman" panose="02020603050405020304" pitchFamily="18" charset="0"/>
                <a:cs typeface="Times New Roman" panose="02020603050405020304" pitchFamily="18" charset="0"/>
              </a:rPr>
              <a:t>Functional materials </a:t>
            </a:r>
          </a:p>
        </p:txBody>
      </p:sp>
      <p:sp>
        <p:nvSpPr>
          <p:cNvPr id="7" name="文字方塊 6">
            <a:extLst>
              <a:ext uri="{FF2B5EF4-FFF2-40B4-BE49-F238E27FC236}">
                <a16:creationId xmlns:a16="http://schemas.microsoft.com/office/drawing/2014/main" id="{C700E2F9-040F-4F8E-6A8A-C6ABB10C3013}"/>
              </a:ext>
            </a:extLst>
          </p:cNvPr>
          <p:cNvSpPr txBox="1"/>
          <p:nvPr/>
        </p:nvSpPr>
        <p:spPr>
          <a:xfrm>
            <a:off x="571301" y="5026430"/>
            <a:ext cx="11446867" cy="1477328"/>
          </a:xfrm>
          <a:prstGeom prst="rect">
            <a:avLst/>
          </a:prstGeom>
          <a:noFill/>
        </p:spPr>
        <p:txBody>
          <a:bodyPr wrap="square">
            <a:spAutoFit/>
          </a:bodyPr>
          <a:lstStyle/>
          <a:p>
            <a:pPr marL="285750" indent="-285750">
              <a:buFont typeface="Wingdings" pitchFamily="2" charset="2"/>
              <a:buChar char="à"/>
            </a:pPr>
            <a:r>
              <a:rPr lang="en" altLang="zh-TW" dirty="0">
                <a:latin typeface="Times New Roman" panose="02020603050405020304" pitchFamily="18" charset="0"/>
                <a:cs typeface="Times New Roman" panose="02020603050405020304" pitchFamily="18" charset="0"/>
              </a:rPr>
              <a:t>GelMA, HA, and PDMS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are the backbone of this scaffold, supporting cartilage regeneration with their structural and biological properties. PVDF complements these biomaterials by adding a monitoring capability, ensuring the scaffold addresses both regenerative and diagnostic needs.</a:t>
            </a:r>
          </a:p>
          <a:p>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sym typeface="Wingdings" pitchFamily="2" charset="2"/>
              </a:rPr>
              <a:t> </a:t>
            </a:r>
            <a:r>
              <a:rPr lang="en" altLang="zh-TW" dirty="0">
                <a:latin typeface="Times New Roman" panose="02020603050405020304" pitchFamily="18" charset="0"/>
                <a:cs typeface="Times New Roman" panose="02020603050405020304" pitchFamily="18" charset="0"/>
              </a:rPr>
              <a:t>This combination highlights how biomaterials and functional materials can work together to create a comprehensive</a:t>
            </a:r>
          </a:p>
        </p:txBody>
      </p:sp>
      <p:sp>
        <p:nvSpPr>
          <p:cNvPr id="9" name="文字方塊 8">
            <a:extLst>
              <a:ext uri="{FF2B5EF4-FFF2-40B4-BE49-F238E27FC236}">
                <a16:creationId xmlns:a16="http://schemas.microsoft.com/office/drawing/2014/main" id="{907584F8-7228-ED71-3063-00DE542AB999}"/>
              </a:ext>
            </a:extLst>
          </p:cNvPr>
          <p:cNvSpPr txBox="1"/>
          <p:nvPr/>
        </p:nvSpPr>
        <p:spPr>
          <a:xfrm>
            <a:off x="857250" y="6399166"/>
            <a:ext cx="6103620" cy="369332"/>
          </a:xfrm>
          <a:prstGeom prst="rect">
            <a:avLst/>
          </a:prstGeom>
          <a:noFill/>
        </p:spPr>
        <p:txBody>
          <a:bodyPr wrap="square">
            <a:spAutoFit/>
          </a:bodyPr>
          <a:lstStyle/>
          <a:p>
            <a:r>
              <a:rPr lang="en" altLang="zh-TW" dirty="0">
                <a:latin typeface="Times New Roman" panose="02020603050405020304" pitchFamily="18" charset="0"/>
                <a:cs typeface="Times New Roman" panose="02020603050405020304" pitchFamily="18" charset="0"/>
              </a:rPr>
              <a:t>solution for cartilage repair.</a:t>
            </a:r>
            <a:endParaRPr lang="zh-TW" altLang="en-US" dirty="0"/>
          </a:p>
        </p:txBody>
      </p:sp>
    </p:spTree>
    <p:extLst>
      <p:ext uri="{BB962C8B-B14F-4D97-AF65-F5344CB8AC3E}">
        <p14:creationId xmlns:p14="http://schemas.microsoft.com/office/powerpoint/2010/main" val="92903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5CA10F1B-2E82-D3B4-A4D9-6949577188AB}"/>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CD540B59-ED66-8049-C0EE-A5B515DB79C2}"/>
              </a:ext>
            </a:extLst>
          </p:cNvPr>
          <p:cNvSpPr txBox="1"/>
          <p:nvPr/>
        </p:nvSpPr>
        <p:spPr>
          <a:xfrm>
            <a:off x="5195752" y="339774"/>
            <a:ext cx="1800494" cy="646331"/>
          </a:xfrm>
          <a:prstGeom prst="rect">
            <a:avLst/>
          </a:prstGeom>
          <a:noFill/>
        </p:spPr>
        <p:txBody>
          <a:bodyPr wrap="none" rtlCol="0">
            <a:spAutoFit/>
          </a:bodyPr>
          <a:lstStyle/>
          <a:p>
            <a:pPr algn="ctr"/>
            <a:r>
              <a:rPr kumimoji="1" lang="en-US" altLang="zh-TW" sz="3600" dirty="0">
                <a:latin typeface="Times New Roman" panose="02020603050405020304" pitchFamily="18" charset="0"/>
                <a:cs typeface="Times New Roman" panose="02020603050405020304" pitchFamily="18" charset="0"/>
              </a:rPr>
              <a:t>Methods</a:t>
            </a:r>
            <a:endParaRPr kumimoji="1" lang="zh-TW" altLang="en-US" sz="36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B06A693A-5175-2719-3A9E-ECE6A662C237}"/>
              </a:ext>
            </a:extLst>
          </p:cNvPr>
          <p:cNvSpPr txBox="1"/>
          <p:nvPr/>
        </p:nvSpPr>
        <p:spPr>
          <a:xfrm>
            <a:off x="165048" y="2304182"/>
            <a:ext cx="11861901" cy="3139321"/>
          </a:xfrm>
          <a:prstGeom prst="rect">
            <a:avLst/>
          </a:prstGeom>
          <a:noFill/>
        </p:spPr>
        <p:txBody>
          <a:bodyPr wrap="square" rtlCol="0">
            <a:spAutoFit/>
          </a:bodyPr>
          <a:lstStyle/>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Layer 1: GelMA + Nanoparticle Base</a:t>
            </a:r>
            <a:endParaRPr lang="en" altLang="zh-TW"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Prepare GelMA solution (5%-10% w/v) with photoinitiator and mix with HA (1%-2% w/v) and silica nanoparticles (1%-5% w/v).</a:t>
            </a: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Print using Digital Light Processing (DLP) 3D printing to ensure consistent pore size and structural integrity.</a:t>
            </a: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Embed PDMS-encapsulated electronic component during printing.</a:t>
            </a: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Perform UV crosslinking (365 nm, 2-5 minutes) to solidify the layer.</a:t>
            </a:r>
          </a:p>
          <a:p>
            <a:pPr marL="742950" lvl="1" indent="-285750" algn="l">
              <a:buFont typeface="+mj-lt"/>
              <a:buAutoNum type="arabicPeriod"/>
            </a:pPr>
            <a:endParaRPr lang="en" altLang="zh-TW" b="0"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Layer 2: HA Flexible Network</a:t>
            </a:r>
            <a:endParaRPr lang="en" altLang="zh-TW"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Immerse the crosslinked base layer in HA solution (1%-3% w/v, with EDC/NHS as crosslinking agents).</a:t>
            </a:r>
          </a:p>
          <a:p>
            <a:pPr marL="742950" lvl="1" indent="-285750" algn="l">
              <a:buFont typeface="+mj-lt"/>
              <a:buAutoNum type="arabicPeriod"/>
            </a:pPr>
            <a:r>
              <a:rPr lang="en" altLang="zh-TW" b="0" i="0" u="none" strike="noStrike" dirty="0">
                <a:solidFill>
                  <a:srgbClr val="000000"/>
                </a:solidFill>
                <a:effectLst/>
                <a:latin typeface="Times New Roman" panose="02020603050405020304" pitchFamily="18" charset="0"/>
                <a:cs typeface="Times New Roman" panose="02020603050405020304" pitchFamily="18" charset="0"/>
              </a:rPr>
              <a:t>Allow chemical crosslinking at room temperature for 4-6 hours.</a:t>
            </a:r>
          </a:p>
          <a:p>
            <a:pPr algn="l"/>
            <a:endParaRPr lang="en" altLang="zh-TW"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285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797492E1-15AF-C397-613E-D00FBFCA26A9}"/>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CD540B59-ED66-8049-C0EE-A5B515DB79C2}"/>
              </a:ext>
            </a:extLst>
          </p:cNvPr>
          <p:cNvSpPr txBox="1"/>
          <p:nvPr/>
        </p:nvSpPr>
        <p:spPr>
          <a:xfrm>
            <a:off x="5195753" y="339774"/>
            <a:ext cx="1800494" cy="646331"/>
          </a:xfrm>
          <a:prstGeom prst="rect">
            <a:avLst/>
          </a:prstGeom>
          <a:noFill/>
        </p:spPr>
        <p:txBody>
          <a:bodyPr wrap="none" rtlCol="0">
            <a:spAutoFit/>
          </a:bodyPr>
          <a:lstStyle/>
          <a:p>
            <a:pPr algn="ctr"/>
            <a:r>
              <a:rPr kumimoji="1" lang="en-US" altLang="zh-TW" sz="3600" dirty="0">
                <a:latin typeface="Times New Roman" panose="02020603050405020304" pitchFamily="18" charset="0"/>
                <a:cs typeface="Times New Roman" panose="02020603050405020304" pitchFamily="18" charset="0"/>
              </a:rPr>
              <a:t>Methods</a:t>
            </a:r>
            <a:endParaRPr kumimoji="1"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88E5B7B5-113C-282D-704B-28973493226D}"/>
              </a:ext>
            </a:extLst>
          </p:cNvPr>
          <p:cNvPicPr>
            <a:picLocks noChangeAspect="1"/>
          </p:cNvPicPr>
          <p:nvPr/>
        </p:nvPicPr>
        <p:blipFill>
          <a:blip r:embed="rId3"/>
          <a:stretch>
            <a:fillRect/>
          </a:stretch>
        </p:blipFill>
        <p:spPr>
          <a:xfrm>
            <a:off x="409305" y="1665654"/>
            <a:ext cx="11071955" cy="4132849"/>
          </a:xfrm>
          <a:prstGeom prst="rect">
            <a:avLst/>
          </a:prstGeom>
        </p:spPr>
      </p:pic>
      <p:grpSp>
        <p:nvGrpSpPr>
          <p:cNvPr id="7" name="群組 6">
            <a:extLst>
              <a:ext uri="{FF2B5EF4-FFF2-40B4-BE49-F238E27FC236}">
                <a16:creationId xmlns:a16="http://schemas.microsoft.com/office/drawing/2014/main" id="{D58B2F47-EE37-8612-910C-1F729EBE388E}"/>
              </a:ext>
            </a:extLst>
          </p:cNvPr>
          <p:cNvGrpSpPr/>
          <p:nvPr/>
        </p:nvGrpSpPr>
        <p:grpSpPr>
          <a:xfrm>
            <a:off x="8227060" y="4866774"/>
            <a:ext cx="3430960" cy="1257300"/>
            <a:chOff x="8470900" y="3557269"/>
            <a:chExt cx="3430960" cy="1257300"/>
          </a:xfrm>
        </p:grpSpPr>
        <p:pic>
          <p:nvPicPr>
            <p:cNvPr id="4" name="圖片 3">
              <a:extLst>
                <a:ext uri="{FF2B5EF4-FFF2-40B4-BE49-F238E27FC236}">
                  <a16:creationId xmlns:a16="http://schemas.microsoft.com/office/drawing/2014/main" id="{1ADBA882-4157-04E3-47B5-6B2D2CB2E9C2}"/>
                </a:ext>
              </a:extLst>
            </p:cNvPr>
            <p:cNvPicPr>
              <a:picLocks noChangeAspect="1"/>
            </p:cNvPicPr>
            <p:nvPr/>
          </p:nvPicPr>
          <p:blipFill>
            <a:blip r:embed="rId4"/>
            <a:stretch>
              <a:fillRect/>
            </a:stretch>
          </p:blipFill>
          <p:spPr>
            <a:xfrm>
              <a:off x="8470900" y="3618230"/>
              <a:ext cx="1803400" cy="1054100"/>
            </a:xfrm>
            <a:prstGeom prst="rect">
              <a:avLst/>
            </a:prstGeom>
          </p:spPr>
        </p:pic>
        <p:pic>
          <p:nvPicPr>
            <p:cNvPr id="6" name="圖片 5">
              <a:extLst>
                <a:ext uri="{FF2B5EF4-FFF2-40B4-BE49-F238E27FC236}">
                  <a16:creationId xmlns:a16="http://schemas.microsoft.com/office/drawing/2014/main" id="{8DDCEA61-0AB4-7DEC-1FF7-A26FA6E327E8}"/>
                </a:ext>
              </a:extLst>
            </p:cNvPr>
            <p:cNvPicPr>
              <a:picLocks noChangeAspect="1"/>
            </p:cNvPicPr>
            <p:nvPr/>
          </p:nvPicPr>
          <p:blipFill>
            <a:blip r:embed="rId5"/>
            <a:stretch>
              <a:fillRect/>
            </a:stretch>
          </p:blipFill>
          <p:spPr>
            <a:xfrm>
              <a:off x="10034960" y="3557269"/>
              <a:ext cx="1866900" cy="1257300"/>
            </a:xfrm>
            <a:prstGeom prst="rect">
              <a:avLst/>
            </a:prstGeom>
          </p:spPr>
        </p:pic>
      </p:grpSp>
      <p:sp>
        <p:nvSpPr>
          <p:cNvPr id="8" name="矩形 7">
            <a:extLst>
              <a:ext uri="{FF2B5EF4-FFF2-40B4-BE49-F238E27FC236}">
                <a16:creationId xmlns:a16="http://schemas.microsoft.com/office/drawing/2014/main" id="{8ED5E719-2CE0-9EB4-EB24-92CFC384281F}"/>
              </a:ext>
            </a:extLst>
          </p:cNvPr>
          <p:cNvSpPr/>
          <p:nvPr/>
        </p:nvSpPr>
        <p:spPr>
          <a:xfrm>
            <a:off x="8196580" y="4836294"/>
            <a:ext cx="3430960" cy="13030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742661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D646760-0301-D2EA-C08E-DAAD377787E5}"/>
              </a:ext>
            </a:extLst>
          </p:cNvPr>
          <p:cNvSpPr txBox="1"/>
          <p:nvPr/>
        </p:nvSpPr>
        <p:spPr>
          <a:xfrm>
            <a:off x="2977197" y="285750"/>
            <a:ext cx="6237605" cy="1200329"/>
          </a:xfrm>
          <a:prstGeom prst="rect">
            <a:avLst/>
          </a:prstGeom>
          <a:noFill/>
        </p:spPr>
        <p:txBody>
          <a:bodyPr wrap="none" rtlCol="0">
            <a:spAutoFit/>
          </a:bodyPr>
          <a:lstStyle/>
          <a:p>
            <a:r>
              <a:rPr lang="en-US" altLang="zh-TW" sz="3600" dirty="0">
                <a:effectLst/>
                <a:latin typeface="Times New Roman" panose="02020603050405020304" pitchFamily="18" charset="0"/>
                <a:ea typeface="新細明體" panose="02020500000000000000" pitchFamily="18" charset="-120"/>
                <a:cs typeface="Times New Roman" panose="02020603050405020304" pitchFamily="18" charset="0"/>
              </a:rPr>
              <a:t>Schematic diagram of the design</a:t>
            </a:r>
            <a:endParaRPr lang="zh-TW" altLang="zh-TW" sz="3600" dirty="0">
              <a:effectLst/>
              <a:latin typeface="Times New Roman" panose="02020603050405020304" pitchFamily="18" charset="0"/>
              <a:ea typeface="新細明體" panose="02020500000000000000" pitchFamily="18" charset="-120"/>
              <a:cs typeface="Times New Roman" panose="02020603050405020304" pitchFamily="18" charset="0"/>
            </a:endParaRPr>
          </a:p>
          <a:p>
            <a:endParaRPr kumimoji="1" lang="zh-TW" altLang="en-US" sz="3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3A498BE-3FAE-A599-2A9C-46E572DBCE34}"/>
              </a:ext>
            </a:extLst>
          </p:cNvPr>
          <p:cNvPicPr>
            <a:picLocks noChangeAspect="1"/>
          </p:cNvPicPr>
          <p:nvPr/>
        </p:nvPicPr>
        <p:blipFill>
          <a:blip r:embed="rId3"/>
          <a:stretch>
            <a:fillRect/>
          </a:stretch>
        </p:blipFill>
        <p:spPr>
          <a:xfrm>
            <a:off x="2628582" y="1742440"/>
            <a:ext cx="6388100" cy="4775200"/>
          </a:xfrm>
          <a:prstGeom prst="rect">
            <a:avLst/>
          </a:prstGeom>
        </p:spPr>
      </p:pic>
      <p:sp>
        <p:nvSpPr>
          <p:cNvPr id="13" name="向下箭號 12">
            <a:extLst>
              <a:ext uri="{FF2B5EF4-FFF2-40B4-BE49-F238E27FC236}">
                <a16:creationId xmlns:a16="http://schemas.microsoft.com/office/drawing/2014/main" id="{EFF78918-2878-7FAB-DB37-0C852C1AEF24}"/>
              </a:ext>
            </a:extLst>
          </p:cNvPr>
          <p:cNvSpPr/>
          <p:nvPr/>
        </p:nvSpPr>
        <p:spPr>
          <a:xfrm flipH="1">
            <a:off x="6781800" y="2880360"/>
            <a:ext cx="198120" cy="109728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向下箭號 14">
            <a:extLst>
              <a:ext uri="{FF2B5EF4-FFF2-40B4-BE49-F238E27FC236}">
                <a16:creationId xmlns:a16="http://schemas.microsoft.com/office/drawing/2014/main" id="{568EA62C-BA13-BE23-2FD3-C633DFF2529F}"/>
              </a:ext>
            </a:extLst>
          </p:cNvPr>
          <p:cNvSpPr/>
          <p:nvPr/>
        </p:nvSpPr>
        <p:spPr>
          <a:xfrm rot="10800000" flipH="1">
            <a:off x="6781800" y="4504690"/>
            <a:ext cx="198120" cy="109728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553EB038-43C3-9EE8-3067-1296E86C796A}"/>
              </a:ext>
            </a:extLst>
          </p:cNvPr>
          <p:cNvSpPr txBox="1"/>
          <p:nvPr/>
        </p:nvSpPr>
        <p:spPr>
          <a:xfrm>
            <a:off x="6979920" y="3115310"/>
            <a:ext cx="1234440" cy="400110"/>
          </a:xfrm>
          <a:prstGeom prst="rect">
            <a:avLst/>
          </a:prstGeom>
          <a:noFill/>
        </p:spPr>
        <p:txBody>
          <a:bodyPr wrap="square" rtlCol="0">
            <a:spAutoFit/>
          </a:bodyPr>
          <a:lstStyle/>
          <a:p>
            <a:r>
              <a:rPr kumimoji="1" lang="en-US" altLang="zh-TW" sz="2000" b="1" dirty="0">
                <a:solidFill>
                  <a:srgbClr val="FF0000"/>
                </a:solidFill>
                <a:latin typeface="Times New Roman" panose="02020603050405020304" pitchFamily="18" charset="0"/>
                <a:cs typeface="Times New Roman" panose="02020603050405020304" pitchFamily="18" charset="0"/>
              </a:rPr>
              <a:t>Force</a:t>
            </a:r>
            <a:endParaRPr kumimoji="1"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39D55ED4-4939-00CD-8737-A3253131CF9A}"/>
              </a:ext>
            </a:extLst>
          </p:cNvPr>
          <p:cNvSpPr txBox="1"/>
          <p:nvPr/>
        </p:nvSpPr>
        <p:spPr>
          <a:xfrm>
            <a:off x="6979920" y="4816475"/>
            <a:ext cx="1234440" cy="400110"/>
          </a:xfrm>
          <a:prstGeom prst="rect">
            <a:avLst/>
          </a:prstGeom>
          <a:noFill/>
        </p:spPr>
        <p:txBody>
          <a:bodyPr wrap="square" rtlCol="0">
            <a:spAutoFit/>
          </a:bodyPr>
          <a:lstStyle/>
          <a:p>
            <a:r>
              <a:rPr kumimoji="1" lang="en-US" altLang="zh-TW" sz="2000" b="1" dirty="0">
                <a:solidFill>
                  <a:srgbClr val="FF0000"/>
                </a:solidFill>
                <a:latin typeface="Times New Roman" panose="02020603050405020304" pitchFamily="18" charset="0"/>
                <a:cs typeface="Times New Roman" panose="02020603050405020304" pitchFamily="18" charset="0"/>
              </a:rPr>
              <a:t>Force</a:t>
            </a:r>
            <a:endParaRPr kumimoji="1" lang="zh-TW" altLang="en-US" sz="2000" b="1" dirty="0">
              <a:solidFill>
                <a:srgbClr val="FF0000"/>
              </a:solidFill>
              <a:latin typeface="Times New Roman" panose="02020603050405020304" pitchFamily="18" charset="0"/>
              <a:cs typeface="Times New Roman" panose="02020603050405020304" pitchFamily="18" charset="0"/>
            </a:endParaRPr>
          </a:p>
        </p:txBody>
      </p:sp>
      <p:grpSp>
        <p:nvGrpSpPr>
          <p:cNvPr id="41" name="群組 40">
            <a:extLst>
              <a:ext uri="{FF2B5EF4-FFF2-40B4-BE49-F238E27FC236}">
                <a16:creationId xmlns:a16="http://schemas.microsoft.com/office/drawing/2014/main" id="{73548376-85A9-D02D-4C27-AB883C387B1F}"/>
              </a:ext>
            </a:extLst>
          </p:cNvPr>
          <p:cNvGrpSpPr/>
          <p:nvPr/>
        </p:nvGrpSpPr>
        <p:grpSpPr>
          <a:xfrm>
            <a:off x="6096000" y="3977640"/>
            <a:ext cx="1643220" cy="152400"/>
            <a:chOff x="6096000" y="3977640"/>
            <a:chExt cx="1643220" cy="152400"/>
          </a:xfrm>
        </p:grpSpPr>
        <p:cxnSp>
          <p:nvCxnSpPr>
            <p:cNvPr id="29" name="曲線接點 28">
              <a:extLst>
                <a:ext uri="{FF2B5EF4-FFF2-40B4-BE49-F238E27FC236}">
                  <a16:creationId xmlns:a16="http://schemas.microsoft.com/office/drawing/2014/main" id="{190986B9-0953-BB58-E477-93B45C79F2F6}"/>
                </a:ext>
              </a:extLst>
            </p:cNvPr>
            <p:cNvCxnSpPr>
              <a:cxnSpLocks/>
            </p:cNvCxnSpPr>
            <p:nvPr/>
          </p:nvCxnSpPr>
          <p:spPr>
            <a:xfrm rot="10800000" flipV="1">
              <a:off x="6096000" y="3977640"/>
              <a:ext cx="518161" cy="152400"/>
            </a:xfrm>
            <a:prstGeom prst="curvedConnector3">
              <a:avLst/>
            </a:prstGeom>
            <a:ln w="63500">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曲線接點 35">
              <a:extLst>
                <a:ext uri="{FF2B5EF4-FFF2-40B4-BE49-F238E27FC236}">
                  <a16:creationId xmlns:a16="http://schemas.microsoft.com/office/drawing/2014/main" id="{5B14DC4D-B477-224F-4EB9-A4D6525C175C}"/>
                </a:ext>
              </a:extLst>
            </p:cNvPr>
            <p:cNvCxnSpPr>
              <a:cxnSpLocks/>
            </p:cNvCxnSpPr>
            <p:nvPr/>
          </p:nvCxnSpPr>
          <p:spPr>
            <a:xfrm>
              <a:off x="7223760" y="3977640"/>
              <a:ext cx="515460" cy="152400"/>
            </a:xfrm>
            <a:prstGeom prst="curvedConnector3">
              <a:avLst/>
            </a:prstGeom>
            <a:ln w="63500">
              <a:solidFill>
                <a:srgbClr val="FFFF00"/>
              </a:solidFill>
              <a:tailEnd type="triangle"/>
            </a:ln>
          </p:spPr>
          <p:style>
            <a:lnRef idx="2">
              <a:schemeClr val="accent1"/>
            </a:lnRef>
            <a:fillRef idx="0">
              <a:schemeClr val="accent1"/>
            </a:fillRef>
            <a:effectRef idx="1">
              <a:schemeClr val="accent1"/>
            </a:effectRef>
            <a:fontRef idx="minor">
              <a:schemeClr val="tx1"/>
            </a:fontRef>
          </p:style>
        </p:cxnSp>
      </p:grpSp>
      <p:sp>
        <p:nvSpPr>
          <p:cNvPr id="38" name="矩形 37">
            <a:extLst>
              <a:ext uri="{FF2B5EF4-FFF2-40B4-BE49-F238E27FC236}">
                <a16:creationId xmlns:a16="http://schemas.microsoft.com/office/drawing/2014/main" id="{2120265D-E2F6-1B63-DEFE-6039EFB13F08}"/>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80975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E09E726-DA0C-2604-1F3B-EC032356A693}"/>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文字方塊 1">
            <a:extLst>
              <a:ext uri="{FF2B5EF4-FFF2-40B4-BE49-F238E27FC236}">
                <a16:creationId xmlns:a16="http://schemas.microsoft.com/office/drawing/2014/main" id="{22960B64-4CEA-9726-EBBA-6D8B238713A0}"/>
              </a:ext>
            </a:extLst>
          </p:cNvPr>
          <p:cNvSpPr txBox="1"/>
          <p:nvPr/>
        </p:nvSpPr>
        <p:spPr>
          <a:xfrm>
            <a:off x="3842818" y="350520"/>
            <a:ext cx="4506362" cy="1200329"/>
          </a:xfrm>
          <a:prstGeom prst="rect">
            <a:avLst/>
          </a:prstGeom>
          <a:noFill/>
        </p:spPr>
        <p:txBody>
          <a:bodyPr wrap="none" rtlCol="0">
            <a:spAutoFit/>
          </a:bodyPr>
          <a:lstStyle/>
          <a:p>
            <a:r>
              <a:rPr lang="en" altLang="zh-TW" sz="3600" b="0" i="0" u="none" strike="noStrike" dirty="0">
                <a:effectLst/>
                <a:latin typeface="Times New Roman" panose="02020603050405020304" pitchFamily="18" charset="0"/>
                <a:cs typeface="Times New Roman" panose="02020603050405020304" pitchFamily="18" charset="0"/>
              </a:rPr>
              <a:t>Health and failure risks</a:t>
            </a:r>
            <a:br>
              <a:rPr lang="en" altLang="zh-TW" sz="3600" dirty="0">
                <a:latin typeface="Times New Roman" panose="02020603050405020304" pitchFamily="18" charset="0"/>
                <a:cs typeface="Times New Roman" panose="02020603050405020304" pitchFamily="18" charset="0"/>
              </a:rPr>
            </a:br>
            <a:endParaRPr kumimoji="1" lang="zh-TW" altLang="en-US" sz="36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FE574057-C307-B28D-56CE-5BB6C02E7BF6}"/>
              </a:ext>
            </a:extLst>
          </p:cNvPr>
          <p:cNvSpPr txBox="1"/>
          <p:nvPr/>
        </p:nvSpPr>
        <p:spPr>
          <a:xfrm>
            <a:off x="314603" y="1901369"/>
            <a:ext cx="11562791" cy="4524315"/>
          </a:xfrm>
          <a:prstGeom prst="rect">
            <a:avLst/>
          </a:prstGeom>
          <a:noFill/>
        </p:spPr>
        <p:txBody>
          <a:bodyPr wrap="square" rtlCol="0">
            <a:spAutoFit/>
          </a:bodyPr>
          <a:lstStyle/>
          <a:p>
            <a:r>
              <a:rPr lang="en" altLang="zh-TW" dirty="0">
                <a:latin typeface="Times New Roman" panose="02020603050405020304" pitchFamily="18" charset="0"/>
                <a:cs typeface="Times New Roman" panose="02020603050405020304" pitchFamily="18" charset="0"/>
              </a:rPr>
              <a:t>Biocompatibility Concerns:</a:t>
            </a:r>
          </a:p>
          <a:p>
            <a:pPr algn="l"/>
            <a:r>
              <a:rPr lang="en" altLang="zh-TW" dirty="0">
                <a:latin typeface="Times New Roman" panose="02020603050405020304" pitchFamily="18" charset="0"/>
                <a:cs typeface="Times New Roman" panose="02020603050405020304" pitchFamily="18" charset="0"/>
              </a:rPr>
              <a:t>Non-biodegradable components such as PDMS and PVDF present potential long-term risks as they remain in the body after their functional lifespan. Unlike biodegradable materials that naturally degrade and are absorbed by the body, these components may lead to chronic inflammatory responses, fibrosis, or encapsulation by surrounding tissues over time.</a:t>
            </a:r>
          </a:p>
          <a:p>
            <a:pPr algn="l"/>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Infection Risk:</a:t>
            </a:r>
          </a:p>
          <a:p>
            <a:r>
              <a:rPr lang="en" altLang="zh-TW" dirty="0">
                <a:latin typeface="Times New Roman" panose="02020603050405020304" pitchFamily="18" charset="0"/>
                <a:cs typeface="Times New Roman" panose="02020603050405020304" pitchFamily="18" charset="0"/>
              </a:rPr>
              <a:t>As the device is implantable, there is a risk of infection during or after surgery. </a:t>
            </a:r>
          </a:p>
          <a:p>
            <a:pPr>
              <a:buFont typeface="Arial" panose="020B0604020202020204" pitchFamily="34" charset="0"/>
              <a:buChar char="•"/>
            </a:pPr>
            <a:endParaRPr lang="en" altLang="zh-TW" dirty="0">
              <a:latin typeface="Times New Roman" panose="02020603050405020304" pitchFamily="18" charset="0"/>
              <a:cs typeface="Times New Roman" panose="02020603050405020304" pitchFamily="18" charset="0"/>
            </a:endParaRPr>
          </a:p>
          <a:p>
            <a:r>
              <a:rPr lang="en" altLang="zh-TW" i="0" u="none" strike="noStrike" dirty="0">
                <a:solidFill>
                  <a:srgbClr val="000000"/>
                </a:solidFill>
                <a:effectLst/>
                <a:latin typeface="Times New Roman" panose="02020603050405020304" pitchFamily="18" charset="0"/>
                <a:cs typeface="Times New Roman" panose="02020603050405020304" pitchFamily="18" charset="0"/>
              </a:rPr>
              <a:t>Sensor Accuracy: </a:t>
            </a:r>
          </a:p>
          <a:p>
            <a:r>
              <a:rPr lang="en" altLang="zh-TW" i="0" u="none" strike="noStrike" dirty="0">
                <a:solidFill>
                  <a:srgbClr val="000000"/>
                </a:solidFill>
                <a:effectLst/>
                <a:latin typeface="Times New Roman" panose="02020603050405020304" pitchFamily="18" charset="0"/>
                <a:cs typeface="Times New Roman" panose="02020603050405020304" pitchFamily="18" charset="0"/>
              </a:rPr>
              <a:t>PDMS encapsulation may reduce the sensitivity of the PVDF pressure sensor. Additionally, improper placement or material thickness could affect the accuracy of pressure readings. Signal interference or loss during BLE data transmission could lead to incomplete or incorrect monitoring results.</a:t>
            </a:r>
          </a:p>
          <a:p>
            <a:endParaRPr lang="en" altLang="zh-TW" i="0" u="none" strike="noStrike" dirty="0">
              <a:solidFill>
                <a:srgbClr val="000000"/>
              </a:solidFill>
              <a:effectLst/>
              <a:latin typeface="Times New Roman" panose="02020603050405020304" pitchFamily="18" charset="0"/>
              <a:cs typeface="Times New Roman" panose="02020603050405020304" pitchFamily="18" charset="0"/>
            </a:endParaRPr>
          </a:p>
          <a:p>
            <a:r>
              <a:rPr lang="en" altLang="zh-TW" i="0" u="none" strike="noStrike" dirty="0">
                <a:solidFill>
                  <a:srgbClr val="000000"/>
                </a:solidFill>
                <a:effectLst/>
                <a:latin typeface="Times New Roman" panose="02020603050405020304" pitchFamily="18" charset="0"/>
                <a:cs typeface="Times New Roman" panose="02020603050405020304" pitchFamily="18" charset="0"/>
              </a:rPr>
              <a:t>Long-Term Implantation Risks: </a:t>
            </a:r>
          </a:p>
          <a:p>
            <a:r>
              <a:rPr lang="en" altLang="zh-TW" i="0" u="none" strike="noStrike" dirty="0">
                <a:solidFill>
                  <a:srgbClr val="000000"/>
                </a:solidFill>
                <a:effectLst/>
                <a:latin typeface="Times New Roman" panose="02020603050405020304" pitchFamily="18" charset="0"/>
                <a:cs typeface="Times New Roman" panose="02020603050405020304" pitchFamily="18" charset="0"/>
              </a:rPr>
              <a:t>Non-biodegradable components such as PDMS and PVDF, if left in the body, could lead to long-term issues like fibrosis or device encapsulation by surrounding tissues.</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3190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8146DD5-C2E1-14E5-8DD9-1A2249E0176B}"/>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文字方塊 1">
            <a:extLst>
              <a:ext uri="{FF2B5EF4-FFF2-40B4-BE49-F238E27FC236}">
                <a16:creationId xmlns:a16="http://schemas.microsoft.com/office/drawing/2014/main" id="{22960B64-4CEA-9726-EBBA-6D8B238713A0}"/>
              </a:ext>
            </a:extLst>
          </p:cNvPr>
          <p:cNvSpPr txBox="1"/>
          <p:nvPr/>
        </p:nvSpPr>
        <p:spPr>
          <a:xfrm>
            <a:off x="3714579" y="381238"/>
            <a:ext cx="4762842" cy="1200329"/>
          </a:xfrm>
          <a:prstGeom prst="rect">
            <a:avLst/>
          </a:prstGeom>
          <a:noFill/>
        </p:spPr>
        <p:txBody>
          <a:bodyPr wrap="none" rtlCol="0">
            <a:spAutoFit/>
          </a:bodyPr>
          <a:lstStyle/>
          <a:p>
            <a:r>
              <a:rPr lang="en" altLang="zh-TW" sz="3600" dirty="0">
                <a:latin typeface="Times New Roman" panose="02020603050405020304" pitchFamily="18" charset="0"/>
                <a:cs typeface="Times New Roman" panose="02020603050405020304" pitchFamily="18" charset="0"/>
              </a:rPr>
              <a:t>R</a:t>
            </a:r>
            <a:r>
              <a:rPr lang="en" altLang="zh-TW" sz="3600" b="0" i="0" u="none" strike="noStrike" dirty="0">
                <a:effectLst/>
                <a:latin typeface="Times New Roman" panose="02020603050405020304" pitchFamily="18" charset="0"/>
                <a:cs typeface="Times New Roman" panose="02020603050405020304" pitchFamily="18" charset="0"/>
              </a:rPr>
              <a:t>egulatory requirements</a:t>
            </a:r>
            <a:br>
              <a:rPr lang="en" altLang="zh-TW" sz="3600" dirty="0">
                <a:latin typeface="Times New Roman" panose="02020603050405020304" pitchFamily="18" charset="0"/>
                <a:cs typeface="Times New Roman" panose="02020603050405020304" pitchFamily="18" charset="0"/>
              </a:rPr>
            </a:br>
            <a:endParaRPr kumimoji="1" lang="zh-TW" altLang="en-US" sz="36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47A36F1B-690E-622B-975A-C93E1F0179D1}"/>
              </a:ext>
            </a:extLst>
          </p:cNvPr>
          <p:cNvSpPr txBox="1"/>
          <p:nvPr/>
        </p:nvSpPr>
        <p:spPr>
          <a:xfrm>
            <a:off x="518160" y="1325880"/>
            <a:ext cx="11155680" cy="5632311"/>
          </a:xfrm>
          <a:prstGeom prst="rect">
            <a:avLst/>
          </a:prstGeom>
          <a:noFill/>
        </p:spPr>
        <p:txBody>
          <a:bodyPr wrap="square">
            <a:spAutoFit/>
          </a:bodyPr>
          <a:lstStyle/>
          <a:p>
            <a:endParaRPr lang="en" altLang="zh-TW" dirty="0">
              <a:solidFill>
                <a:srgbClr val="000000"/>
              </a:solidFill>
              <a:latin typeface="Times New Roman" panose="02020603050405020304" pitchFamily="18" charset="0"/>
              <a:cs typeface="Times New Roman" panose="02020603050405020304" pitchFamily="18" charset="0"/>
            </a:endParaRPr>
          </a:p>
          <a:p>
            <a:pPr algn="l"/>
            <a:endParaRPr lang="en" altLang="zh-TW" i="0" u="none" strike="noStrike" dirty="0">
              <a:solidFill>
                <a:srgbClr val="000000"/>
              </a:solidFill>
              <a:effectLst/>
              <a:latin typeface="Times New Roman" panose="02020603050405020304" pitchFamily="18" charset="0"/>
              <a:cs typeface="Times New Roman" panose="02020603050405020304" pitchFamily="18" charset="0"/>
            </a:endParaRPr>
          </a:p>
          <a:p>
            <a:pPr algn="l">
              <a:buFont typeface="+mj-lt"/>
              <a:buAutoNum type="arabicPeriod"/>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Risk Analysis: Conduct comprehensive risk management in accordance with ISO 14971 standards to identify, evaluate, and mitigate potential risks associated with the device.</a:t>
            </a:r>
          </a:p>
          <a:p>
            <a:pPr algn="l">
              <a:buFont typeface="+mj-lt"/>
              <a:buAutoNum type="arabicPeriod"/>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Performance Testing: Assess the accuracy and reliability of the PVDF pressure sensor and BLE module under various operational conditions.</a:t>
            </a:r>
          </a:p>
          <a:p>
            <a:pPr algn="l">
              <a:buFont typeface="+mj-lt"/>
              <a:buAutoNum type="arabicPeriod"/>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Durability Testing: Evaluate the mechanical properties of the scaffold, including compressive strength, fatigue resistance, and interlayer bonding stability, to ensure structural integrity over time.</a:t>
            </a:r>
          </a:p>
          <a:p>
            <a:pPr algn="l">
              <a:buFont typeface="+mj-lt"/>
              <a:buAutoNum type="arabicPeriod"/>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Preclinical Testing: Perform preclinical studies using animal models to assess the scaffold’s biological performance, including its biocompatibility, regenerative potential, and overall safety.</a:t>
            </a:r>
          </a:p>
          <a:p>
            <a:pPr algn="l">
              <a:buFont typeface="+mj-lt"/>
              <a:buAutoNum type="arabicPeriod"/>
            </a:pPr>
            <a:r>
              <a:rPr lang="en" altLang="zh-TW" i="0" u="none" strike="noStrike" dirty="0">
                <a:solidFill>
                  <a:srgbClr val="000000"/>
                </a:solidFill>
                <a:effectLst/>
                <a:latin typeface="Times New Roman" panose="02020603050405020304" pitchFamily="18" charset="0"/>
                <a:cs typeface="Times New Roman" panose="02020603050405020304" pitchFamily="18" charset="0"/>
              </a:rPr>
              <a:t>Usability Testing: Validate the functionality and reliability of the BLE module’s data transmission under real-world conditions to ensure accurate and consistent performance.</a:t>
            </a:r>
          </a:p>
          <a:p>
            <a:pPr algn="l">
              <a:buFont typeface="+mj-lt"/>
              <a:buAutoNum type="arabicPeriod"/>
            </a:pPr>
            <a:endParaRPr lang="en" altLang="zh-TW" dirty="0">
              <a:solidFill>
                <a:srgbClr val="000000"/>
              </a:solidFill>
              <a:latin typeface="Times New Roman" panose="02020603050405020304" pitchFamily="18" charset="0"/>
              <a:cs typeface="Times New Roman" panose="02020603050405020304" pitchFamily="18" charset="0"/>
            </a:endParaRPr>
          </a:p>
          <a:p>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Class III </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because it is an implantable device that incorporates electronic components such as a PVDF pressure sensor and a BLE module. Devices in this category require rigorous safety and performance testing, along with the submission of comprehensive technical documentation. This includes compliance with standards such as </a:t>
            </a:r>
            <a:r>
              <a:rPr lang="en" altLang="zh-TW" b="1" i="0" u="none" strike="noStrike" dirty="0">
                <a:solidFill>
                  <a:srgbClr val="000000"/>
                </a:solidFill>
                <a:effectLst/>
                <a:latin typeface="Times New Roman" panose="02020603050405020304" pitchFamily="18" charset="0"/>
                <a:cs typeface="Times New Roman" panose="02020603050405020304" pitchFamily="18" charset="0"/>
              </a:rPr>
              <a:t>ISO 10993 </a:t>
            </a:r>
            <a:r>
              <a:rPr lang="en" altLang="zh-TW" i="0" u="none" strike="noStrike" dirty="0">
                <a:solidFill>
                  <a:srgbClr val="000000"/>
                </a:solidFill>
                <a:effectLst/>
                <a:latin typeface="Times New Roman" panose="02020603050405020304" pitchFamily="18" charset="0"/>
                <a:cs typeface="Times New Roman" panose="02020603050405020304" pitchFamily="18" charset="0"/>
              </a:rPr>
              <a:t>for biocompatibility testing, ensuring that the materials and the overall device do not induce cytotoxicity, irritation, or long-term adverse reactions in a biological environment.</a:t>
            </a:r>
          </a:p>
          <a:p>
            <a:pPr algn="l">
              <a:buFont typeface="+mj-lt"/>
              <a:buAutoNum type="arabicPeriod"/>
            </a:pPr>
            <a:endParaRPr lang="en" altLang="zh-TW" i="0" u="none" strike="noStrike" dirty="0">
              <a:solidFill>
                <a:srgbClr val="000000"/>
              </a:solidFill>
              <a:effectLst/>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9829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8146DD5-C2E1-14E5-8DD9-1A2249E0176B}"/>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文字方塊 1">
            <a:extLst>
              <a:ext uri="{FF2B5EF4-FFF2-40B4-BE49-F238E27FC236}">
                <a16:creationId xmlns:a16="http://schemas.microsoft.com/office/drawing/2014/main" id="{22960B64-4CEA-9726-EBBA-6D8B238713A0}"/>
              </a:ext>
            </a:extLst>
          </p:cNvPr>
          <p:cNvSpPr txBox="1"/>
          <p:nvPr/>
        </p:nvSpPr>
        <p:spPr>
          <a:xfrm>
            <a:off x="284273" y="2987855"/>
            <a:ext cx="11907727" cy="1200329"/>
          </a:xfrm>
          <a:prstGeom prst="rect">
            <a:avLst/>
          </a:prstGeom>
          <a:noFill/>
        </p:spPr>
        <p:txBody>
          <a:bodyPr wrap="square" rtlCol="0">
            <a:spAutoFit/>
          </a:bodyPr>
          <a:lstStyle/>
          <a:p>
            <a:r>
              <a:rPr lang="en" altLang="zh-TW" sz="2400" i="0" u="none" strike="noStrike" dirty="0">
                <a:solidFill>
                  <a:srgbClr val="000000"/>
                </a:solidFill>
                <a:effectLst/>
                <a:latin typeface="Times New Roman" panose="02020603050405020304" pitchFamily="18" charset="0"/>
                <a:cs typeface="Times New Roman" panose="02020603050405020304" pitchFamily="18" charset="0"/>
              </a:rPr>
              <a:t>In conclusion, this Smart Double-Network Scaffold combines GelMA and HA for cartilage regeneration with PVDF for real-time pressure monitoring. It addresses both structural and diagnostic challenges in cartilage repair, providing valuable data to optimize patient outcomes.</a:t>
            </a:r>
            <a:endParaRPr kumimoji="1"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C37B828D-B75F-7EEC-0A6A-B6102396CFF7}"/>
              </a:ext>
            </a:extLst>
          </p:cNvPr>
          <p:cNvSpPr txBox="1"/>
          <p:nvPr/>
        </p:nvSpPr>
        <p:spPr>
          <a:xfrm>
            <a:off x="4952097" y="339774"/>
            <a:ext cx="2287806" cy="646331"/>
          </a:xfrm>
          <a:prstGeom prst="rect">
            <a:avLst/>
          </a:prstGeom>
          <a:noFill/>
        </p:spPr>
        <p:txBody>
          <a:bodyPr wrap="none" rtlCol="0">
            <a:spAutoFit/>
          </a:bodyPr>
          <a:lstStyle/>
          <a:p>
            <a:r>
              <a:rPr kumimoji="1" lang="en-US" altLang="zh-TW" sz="3600" dirty="0">
                <a:latin typeface="Times New Roman" panose="02020603050405020304" pitchFamily="18" charset="0"/>
                <a:cs typeface="Times New Roman" panose="02020603050405020304" pitchFamily="18" charset="0"/>
              </a:rPr>
              <a:t>Conclusion</a:t>
            </a:r>
            <a:endParaRPr kumimoji="1"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46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8146DD5-C2E1-14E5-8DD9-1A2249E0176B}"/>
              </a:ext>
            </a:extLst>
          </p:cNvPr>
          <p:cNvSpPr/>
          <p:nvPr/>
        </p:nvSpPr>
        <p:spPr>
          <a:xfrm>
            <a:off x="0" y="0"/>
            <a:ext cx="12192000" cy="1325880"/>
          </a:xfrm>
          <a:prstGeom prst="rect">
            <a:avLst/>
          </a:prstGeom>
          <a:solidFill>
            <a:srgbClr val="6C889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C37B828D-B75F-7EEC-0A6A-B6102396CFF7}"/>
              </a:ext>
            </a:extLst>
          </p:cNvPr>
          <p:cNvSpPr txBox="1"/>
          <p:nvPr/>
        </p:nvSpPr>
        <p:spPr>
          <a:xfrm>
            <a:off x="4952097" y="339774"/>
            <a:ext cx="2236510" cy="646331"/>
          </a:xfrm>
          <a:prstGeom prst="rect">
            <a:avLst/>
          </a:prstGeom>
          <a:noFill/>
        </p:spPr>
        <p:txBody>
          <a:bodyPr wrap="none" rtlCol="0">
            <a:spAutoFit/>
          </a:bodyPr>
          <a:lstStyle/>
          <a:p>
            <a:r>
              <a:rPr kumimoji="1" lang="en-US" altLang="zh-TW" sz="3600" dirty="0">
                <a:latin typeface="Times New Roman" panose="02020603050405020304" pitchFamily="18" charset="0"/>
                <a:cs typeface="Times New Roman" panose="02020603050405020304" pitchFamily="18" charset="0"/>
              </a:rPr>
              <a:t>References</a:t>
            </a:r>
            <a:endParaRPr kumimoji="1" lang="zh-TW" altLang="en-US" sz="36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9721E5BF-DED2-DCCF-8BD8-7DD7D52483E8}"/>
              </a:ext>
            </a:extLst>
          </p:cNvPr>
          <p:cNvSpPr txBox="1"/>
          <p:nvPr/>
        </p:nvSpPr>
        <p:spPr>
          <a:xfrm>
            <a:off x="91230" y="1665654"/>
            <a:ext cx="12009539" cy="5062924"/>
          </a:xfrm>
          <a:prstGeom prst="rect">
            <a:avLst/>
          </a:prstGeom>
          <a:noFill/>
        </p:spPr>
        <p:txBody>
          <a:bodyPr wrap="square" rtlCol="0">
            <a:spAutoFit/>
          </a:bodyPr>
          <a:lstStyle/>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[1] Jacob, J., More, N., Kalia, K. et al. Piezoelectric smart biomaterials for bone and cartilage tissue engineering. </a:t>
            </a:r>
            <a:r>
              <a:rPr lang="en-US" altLang="zh-TW" sz="1700" i="1" dirty="0" err="1">
                <a:effectLst/>
                <a:latin typeface="Times New Roman" panose="02020603050405020304" pitchFamily="18" charset="0"/>
                <a:ea typeface="新細明體" panose="02020500000000000000" pitchFamily="18" charset="-120"/>
                <a:cs typeface="新細明體" panose="02020500000000000000" pitchFamily="18" charset="-120"/>
              </a:rPr>
              <a:t>Inflamm</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 </a:t>
            </a:r>
            <a:r>
              <a:rPr lang="en-US" altLang="zh-TW" sz="1700" i="1" dirty="0" err="1">
                <a:effectLst/>
                <a:latin typeface="Times New Roman" panose="02020603050405020304" pitchFamily="18" charset="0"/>
                <a:ea typeface="新細明體" panose="02020500000000000000" pitchFamily="18" charset="-120"/>
                <a:cs typeface="新細明體" panose="02020500000000000000" pitchFamily="18" charset="-120"/>
              </a:rPr>
              <a:t>Regener</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38, 2 (2018).  </a:t>
            </a: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[2] Burdick, J. A., &amp; Prestwich, G. D. (2011). Hyaluronic acid hydrogels for biomedical applications.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Advanced Materials</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23(12), H41–H56.</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[3] Lee, K. Y., &amp; Mooney, D. J. (2012). Alginate: properties and biomedical applications.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Progress in Polymer Science</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37(1), 106–126</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[4] Lin, C. C., &amp;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Anseth</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K. S. (2009). PEG hydrogels for the controlled release of biomolecules in regenerative medicine.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Pharmaceutical Research</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26(3), 631–643.</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[5] Woodruff, M. A., &amp;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Hutmacher</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D. W. (2010). The return of a forgotten polymer—Polycaprolactone in the 21st century.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Progress in Polymer Science</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35(10), 1217–1256.</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[6]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Makadia</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H. K., &amp; Siegel, S. J. (2011). Poly Lactic-co-Glycolic Acid (PLGA) as biodegradable controlled drug delivery carrier.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Polymers</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3(3), 1377–1397. </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[7] Yue, K., Trujillo-de Santiago, G., Alvarez, M. M.,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Tamayol</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A.,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Annabi</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N., &amp;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Khademhosseini</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A. (2015). Synthesis, properties, and applications of gelatin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methacryloyl</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(GelMA) hydrogels.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Biomaterials</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73, 254–271. </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[8] Akbari, S.,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Khazaeinejad</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P. Geometrical and mechanical analysis of polylactic acid and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polyvinylidine</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fluoride scaffolds for bone tissue engineering.</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 Engineering with Computers</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39, 4153–4165 (2023).  [9] Z. Wang, S. Han, B. Zhou, C. Xu and S. Chen, "Flexible Piezoelectric Sensor with a Sandwich Structure Composed of Ionic Conductive Hydrogel and PVDF Film," in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IEEE Sensors Journal</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vol. 24, no. 13, pp. 21339-21346, 1 July1</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pPr algn="l"/>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[10]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Anbo</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Zheng,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Yuxiang</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Qin, Qing Xia,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Xueshuo</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Zhang, and </a:t>
            </a:r>
            <a:r>
              <a:rPr lang="en-US" altLang="zh-TW" sz="1700" dirty="0" err="1">
                <a:effectLst/>
                <a:latin typeface="Times New Roman" panose="02020603050405020304" pitchFamily="18" charset="0"/>
                <a:ea typeface="新細明體" panose="02020500000000000000" pitchFamily="18" charset="-120"/>
                <a:cs typeface="新細明體" panose="02020500000000000000" pitchFamily="18" charset="-120"/>
              </a:rPr>
              <a:t>Yanxu</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 Chen, </a:t>
            </a:r>
            <a:r>
              <a:rPr lang="en-US" altLang="zh-TW" sz="1700" i="1" dirty="0">
                <a:effectLst/>
                <a:latin typeface="Times New Roman" panose="02020603050405020304" pitchFamily="18" charset="0"/>
                <a:ea typeface="新細明體" panose="02020500000000000000" pitchFamily="18" charset="-120"/>
                <a:cs typeface="新細明體" panose="02020500000000000000" pitchFamily="18" charset="-120"/>
              </a:rPr>
              <a:t>ACS Applied Polymer Materials </a:t>
            </a:r>
            <a:r>
              <a:rPr lang="en-US" altLang="zh-TW" sz="1700" dirty="0">
                <a:effectLst/>
                <a:latin typeface="Times New Roman" panose="02020603050405020304" pitchFamily="18" charset="0"/>
                <a:ea typeface="新細明體" panose="02020500000000000000" pitchFamily="18" charset="-120"/>
                <a:cs typeface="新細明體" panose="02020500000000000000" pitchFamily="18" charset="-120"/>
              </a:rPr>
              <a:t>2023 5 (4), 2312-2322</a:t>
            </a:r>
            <a:endParaRPr lang="en-US" altLang="zh-TW" sz="1700" dirty="0">
              <a:effectLst/>
              <a:latin typeface="新細明體" panose="02020500000000000000" pitchFamily="18" charset="-120"/>
              <a:ea typeface="新細明體" panose="02020500000000000000" pitchFamily="18" charset="-120"/>
              <a:cs typeface="新細明體" panose="02020500000000000000" pitchFamily="18" charset="-120"/>
            </a:endParaRPr>
          </a:p>
          <a:p>
            <a:endParaRPr kumimoji="1" lang="zh-TW" altLang="en-US" sz="1700" dirty="0"/>
          </a:p>
        </p:txBody>
      </p:sp>
    </p:spTree>
    <p:extLst>
      <p:ext uri="{BB962C8B-B14F-4D97-AF65-F5344CB8AC3E}">
        <p14:creationId xmlns:p14="http://schemas.microsoft.com/office/powerpoint/2010/main" val="559415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405F979-0358-AC3D-DC69-04A3DDA77217}"/>
              </a:ext>
            </a:extLst>
          </p:cNvPr>
          <p:cNvSpPr txBox="1"/>
          <p:nvPr/>
        </p:nvSpPr>
        <p:spPr>
          <a:xfrm>
            <a:off x="4300728" y="1539240"/>
            <a:ext cx="7373111" cy="4053840"/>
          </a:xfrm>
          <a:prstGeom prst="rect">
            <a:avLst/>
          </a:prstGeom>
        </p:spPr>
        <p:txBody>
          <a:bodyPr vert="horz" lIns="274320" tIns="182880" rIns="274320" bIns="182880" rtlCol="0" anchor="ctr" anchorCtr="1">
            <a:normAutofit/>
          </a:bodyPr>
          <a:lstStyle/>
          <a:p>
            <a:pPr algn="ctr" defTabSz="914400">
              <a:lnSpc>
                <a:spcPct val="90000"/>
              </a:lnSpc>
              <a:spcBef>
                <a:spcPct val="0"/>
              </a:spcBef>
              <a:spcAft>
                <a:spcPts val="600"/>
              </a:spcAft>
            </a:pPr>
            <a:r>
              <a:rPr kumimoji="1" lang="en-US" altLang="zh-TW" sz="2800" b="1" cap="all" spc="200" dirty="0">
                <a:solidFill>
                  <a:srgbClr val="262626"/>
                </a:solidFill>
                <a:latin typeface="Times New Roman" panose="02020603050405020304" pitchFamily="18" charset="0"/>
                <a:ea typeface="+mj-ea"/>
                <a:cs typeface="Times New Roman" panose="02020603050405020304" pitchFamily="18" charset="0"/>
              </a:rPr>
              <a:t>Thank you!</a:t>
            </a:r>
          </a:p>
          <a:p>
            <a:pPr algn="ctr" defTabSz="914400">
              <a:lnSpc>
                <a:spcPct val="90000"/>
              </a:lnSpc>
              <a:spcBef>
                <a:spcPct val="0"/>
              </a:spcBef>
              <a:spcAft>
                <a:spcPts val="600"/>
              </a:spcAft>
            </a:pPr>
            <a:endParaRPr kumimoji="1" lang="en-US" altLang="zh-TW" sz="2800" b="1" cap="all" spc="200" dirty="0">
              <a:solidFill>
                <a:srgbClr val="262626"/>
              </a:solidFill>
              <a:latin typeface="Times New Roman" panose="02020603050405020304" pitchFamily="18" charset="0"/>
              <a:ea typeface="+mj-ea"/>
              <a:cs typeface="Times New Roman" panose="02020603050405020304" pitchFamily="18" charset="0"/>
            </a:endParaRPr>
          </a:p>
          <a:p>
            <a:pPr algn="ctr" defTabSz="914400">
              <a:lnSpc>
                <a:spcPct val="90000"/>
              </a:lnSpc>
              <a:spcBef>
                <a:spcPct val="0"/>
              </a:spcBef>
              <a:spcAft>
                <a:spcPts val="600"/>
              </a:spcAft>
            </a:pPr>
            <a:r>
              <a:rPr lang="en-US" altLang="zh-TW" sz="2800" b="1" cap="all" spc="200" dirty="0">
                <a:solidFill>
                  <a:srgbClr val="262626"/>
                </a:solidFill>
                <a:effectLst/>
                <a:latin typeface="Times New Roman" panose="02020603050405020304" pitchFamily="18" charset="0"/>
                <a:ea typeface="+mj-ea"/>
                <a:cs typeface="Times New Roman" panose="02020603050405020304" pitchFamily="18" charset="0"/>
              </a:rPr>
              <a:t>Please feel free to ask any questions you may have. </a:t>
            </a:r>
          </a:p>
          <a:p>
            <a:pPr algn="ctr" defTabSz="914400">
              <a:lnSpc>
                <a:spcPct val="90000"/>
              </a:lnSpc>
              <a:spcBef>
                <a:spcPct val="0"/>
              </a:spcBef>
              <a:spcAft>
                <a:spcPts val="600"/>
              </a:spcAft>
            </a:pPr>
            <a:endParaRPr kumimoji="1" lang="en-US" altLang="zh-TW" sz="2800" b="1" cap="all" spc="200" dirty="0">
              <a:solidFill>
                <a:srgbClr val="262626"/>
              </a:solidFill>
              <a:latin typeface="Times New Roman" panose="02020603050405020304" pitchFamily="18" charset="0"/>
              <a:ea typeface="+mj-ea"/>
              <a:cs typeface="Times New Roman" panose="02020603050405020304" pitchFamily="18" charset="0"/>
            </a:endParaRPr>
          </a:p>
        </p:txBody>
      </p:sp>
      <p:pic>
        <p:nvPicPr>
          <p:cNvPr id="4" name="Picture 3" descr="不同顏色的問號">
            <a:extLst>
              <a:ext uri="{FF2B5EF4-FFF2-40B4-BE49-F238E27FC236}">
                <a16:creationId xmlns:a16="http://schemas.microsoft.com/office/drawing/2014/main" id="{D5DC50E1-664D-EC96-2335-FAA59AD5583B}"/>
              </a:ext>
            </a:extLst>
          </p:cNvPr>
          <p:cNvPicPr>
            <a:picLocks noChangeAspect="1"/>
          </p:cNvPicPr>
          <p:nvPr/>
        </p:nvPicPr>
        <p:blipFill>
          <a:blip r:embed="rId2"/>
          <a:srcRect l="29220" r="32605"/>
          <a:stretch/>
        </p:blipFill>
        <p:spPr>
          <a:xfrm>
            <a:off x="-594339" y="10"/>
            <a:ext cx="4297660" cy="6857990"/>
          </a:xfrm>
          <a:prstGeom prst="rect">
            <a:avLst/>
          </a:prstGeom>
        </p:spPr>
      </p:pic>
    </p:spTree>
    <p:extLst>
      <p:ext uri="{BB962C8B-B14F-4D97-AF65-F5344CB8AC3E}">
        <p14:creationId xmlns:p14="http://schemas.microsoft.com/office/powerpoint/2010/main" val="164115302"/>
      </p:ext>
    </p:extLst>
  </p:cSld>
  <p:clrMapOvr>
    <a:masterClrMapping/>
  </p:clrMapOvr>
</p:sld>
</file>

<file path=ppt/theme/theme1.xml><?xml version="1.0" encoding="utf-8"?>
<a:theme xmlns:a="http://schemas.openxmlformats.org/drawingml/2006/main" name="包裹">
  <a:themeElements>
    <a:clrScheme name="包裹">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包裹">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包裹">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2985</TotalTime>
  <Words>2619</Words>
  <Application>Microsoft Macintosh PowerPoint</Application>
  <PresentationFormat>寬螢幕</PresentationFormat>
  <Paragraphs>172</Paragraphs>
  <Slides>14</Slides>
  <Notes>13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-webkit-standard</vt:lpstr>
      <vt:lpstr>新細明體</vt:lpstr>
      <vt:lpstr>Aptos</vt:lpstr>
      <vt:lpstr>Arial</vt:lpstr>
      <vt:lpstr>Gill Sans MT</vt:lpstr>
      <vt:lpstr>Times New Roman</vt:lpstr>
      <vt:lpstr>Wingdings</vt:lpstr>
      <vt:lpstr>包裹</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Tsai Tung Chiang</dc:creator>
  <cp:lastModifiedBy>Tsai Tung Chiang</cp:lastModifiedBy>
  <cp:revision>7</cp:revision>
  <dcterms:created xsi:type="dcterms:W3CDTF">2024-11-30T19:17:15Z</dcterms:created>
  <dcterms:modified xsi:type="dcterms:W3CDTF">2024-12-02T21:02:21Z</dcterms:modified>
</cp:coreProperties>
</file>